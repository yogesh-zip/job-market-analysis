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D9FF"/>
    <a:srgbClr val="1D6E2A"/>
    <a:srgbClr val="FFFF0C"/>
    <a:srgbClr val="FF0303"/>
    <a:srgbClr val="F67EE8"/>
    <a:srgbClr val="D61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3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79F61-28DB-4523-D870-4E1F5C228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15CB69-DA92-21CB-4D78-DD63610AB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4C1FB-E2D9-3684-5492-75CCC0FC7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5D7B-0899-4A06-B5B5-482EA1F442C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FAF52-CC33-033D-EDFD-1311C634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0B125-7904-123A-BC2C-64F63E0F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D28A0-E1BF-4D65-9698-AB33AD741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53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DAB4-343A-E4DC-740F-F89CAA5CF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E78F0-D97D-1FD4-2034-5E56E2616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B2D96-D87B-886E-3C72-233056D96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5D7B-0899-4A06-B5B5-482EA1F442C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48857-7943-AB42-5DCF-ACF7F3809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12B42-A648-2B57-8FD9-859A693A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D28A0-E1BF-4D65-9698-AB33AD741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154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5E8B-8E89-CB63-81BD-499B5D7D8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68BCB-1F37-D311-AB91-2DF3A5CB6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A1736-D475-2150-2BE6-06A00A929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5D7B-0899-4A06-B5B5-482EA1F442C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CABD0-0B5B-00D0-B4FB-A0DBAB761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A6768-58B9-E9EA-ABEC-911472A60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D28A0-E1BF-4D65-9698-AB33AD741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598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9D40-4226-0040-70E5-9903015A2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9A4F6-076A-8AB3-0848-9D3D73D899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54A05-8940-4341-AAC6-CE356D2F8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505F2-84A6-F4A4-22ED-4894AC9C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5D7B-0899-4A06-B5B5-482EA1F442C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14B01-A8CA-225C-563A-4167375E7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D80D1-A253-ECCB-7656-C8DFA2EE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D28A0-E1BF-4D65-9698-AB33AD741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57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F6F8E-6CB1-8BF2-F525-08473B179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2866F-ACEC-C84A-B6E1-3370E72E7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29DE4-0C87-818A-C75C-5449177F0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54AF0-58BA-485B-DFBC-93537B94B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4F7FCE-1B57-F100-4E05-8DD875C5E3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7E326E-D995-1393-650D-FC4D2B7F4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5D7B-0899-4A06-B5B5-482EA1F442C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6C24C-6111-1514-BAB8-EDD19724F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E66B49-6E90-100B-B5F1-23A438E41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D28A0-E1BF-4D65-9698-AB33AD741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933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5871-89B7-174F-D5DE-AF3871985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B5C7A-7200-3C51-25FC-90714A379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5D7B-0899-4A06-B5B5-482EA1F442C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D542B-0F74-E87A-E5D1-B88989264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A0E06-A32D-2FE2-E03D-646AD4C33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D28A0-E1BF-4D65-9698-AB33AD741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132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81394B-AEE3-8D16-6EE1-E8BDF7F86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5D7B-0899-4A06-B5B5-482EA1F442C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6693A6-44C7-05FF-C649-33253757F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F17D1-F22A-B052-F71A-D68F7FADE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D28A0-E1BF-4D65-9698-AB33AD741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480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B72BC-8516-7F34-803D-F73CF51F6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6B2EC-3AE0-2F50-B190-D5074FB36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F3F60-F865-1111-6DF8-C2D2E7EBB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F4E6C-953D-F6CC-E551-B6D9F7A63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5D7B-0899-4A06-B5B5-482EA1F442C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AE130-598C-9973-2DB0-FCF9C692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BEB1D-7836-4060-C121-7E8649675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D28A0-E1BF-4D65-9698-AB33AD741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174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2DA26-6130-7EBC-A016-4D627A89A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ACC176-20E5-80D3-9206-CC621FC742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DB87A-ED95-0D1D-FA7D-F44F93518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836B7-8104-94B5-1588-0BD893B7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5D7B-0899-4A06-B5B5-482EA1F442C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FF107-E72F-83B6-CD87-906E7FC6D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44580-0FA2-E9C2-1A42-D496597C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D28A0-E1BF-4D65-9698-AB33AD741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62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07125-4BFA-B9E1-A8DE-76AC6B51E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1677A6-0F9B-452A-44D7-36A2D86EC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93789-3528-43FE-E208-8C4FF64BC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5D7B-0899-4A06-B5B5-482EA1F442C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FD5C7-0B07-7477-1478-DB9A406BD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0695E-5504-298E-17CE-3FBBA328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D28A0-E1BF-4D65-9698-AB33AD741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25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579A0D-D3D4-BC81-6B49-499105F2F0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317C9-C1AC-F70F-D6F8-1A42F4DA0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1D53A-BBF7-1E80-C817-CD9A92BA7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5D7B-0899-4A06-B5B5-482EA1F442C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61402-D0B2-93BE-1067-8062FBC91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B38E0-8E30-4D90-2B31-1CB408130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D28A0-E1BF-4D65-9698-AB33AD741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756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FB739-CC9E-D3DE-81E5-CCE75B0FB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A62BC-1EF1-C341-754F-A80D995AB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57FB3-9C6D-E035-EB1A-FB17EA2B6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565D7B-0899-4A06-B5B5-482EA1F442C5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0D437-4651-34F5-AFE8-D671B596D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96945-C4A5-350A-D708-ABD6D64001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D28A0-E1BF-4D65-9698-AB33AD741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892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B7859BC-4FB8-1106-345B-568D2F53B446}"/>
              </a:ext>
            </a:extLst>
          </p:cNvPr>
          <p:cNvSpPr/>
          <p:nvPr/>
        </p:nvSpPr>
        <p:spPr>
          <a:xfrm>
            <a:off x="4789289" y="1989534"/>
            <a:ext cx="3059907" cy="2859882"/>
          </a:xfrm>
          <a:prstGeom prst="ellipse">
            <a:avLst/>
          </a:prstGeom>
          <a:solidFill>
            <a:schemeClr val="accent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  <a:latin typeface="Elephant" panose="02020904090505020303" pitchFamily="18" charset="0"/>
              </a:rPr>
              <a:t>Dataset: Jobmarket.csv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4EC4CD9-39EB-0EE0-C3B5-C3D504C6D26A}"/>
              </a:ext>
            </a:extLst>
          </p:cNvPr>
          <p:cNvSpPr/>
          <p:nvPr/>
        </p:nvSpPr>
        <p:spPr>
          <a:xfrm>
            <a:off x="4644032" y="1722833"/>
            <a:ext cx="3350419" cy="3271839"/>
          </a:xfrm>
          <a:prstGeom prst="ellipse">
            <a:avLst/>
          </a:prstGeom>
          <a:solidFill>
            <a:schemeClr val="accent3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Elephant" panose="02020904090505020303" pitchFamily="18" charset="0"/>
              </a:rPr>
              <a:t>Tools Used:    Power BI, MySQL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644C45-93A0-F131-E5A5-DFE90FE331B4}"/>
              </a:ext>
            </a:extLst>
          </p:cNvPr>
          <p:cNvSpPr/>
          <p:nvPr/>
        </p:nvSpPr>
        <p:spPr>
          <a:xfrm>
            <a:off x="4891681" y="2090736"/>
            <a:ext cx="2855119" cy="267652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Elephant" panose="02020904090505020303" pitchFamily="18" charset="0"/>
              </a:rPr>
              <a:t>Project Code: PRDA-04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C9E7630-BFDE-1A03-3B2B-4FA160D3F90B}"/>
              </a:ext>
            </a:extLst>
          </p:cNvPr>
          <p:cNvSpPr/>
          <p:nvPr/>
        </p:nvSpPr>
        <p:spPr>
          <a:xfrm>
            <a:off x="4767855" y="1938336"/>
            <a:ext cx="3102769" cy="2981326"/>
          </a:xfrm>
          <a:prstGeom prst="ellipse">
            <a:avLst/>
          </a:prstGeom>
          <a:solidFill>
            <a:srgbClr val="7030A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Elephant" panose="02020904090505020303" pitchFamily="18" charset="0"/>
              </a:rPr>
              <a:t>Presented By:</a:t>
            </a:r>
          </a:p>
          <a:p>
            <a:pPr algn="ctr"/>
            <a:r>
              <a:rPr lang="en-IN" dirty="0">
                <a:latin typeface="Elephant" panose="02020904090505020303" pitchFamily="18" charset="0"/>
              </a:rPr>
              <a:t>Yogesh 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FE2756-E9DF-17BA-4AFE-3A4638A92CE9}"/>
              </a:ext>
            </a:extLst>
          </p:cNvPr>
          <p:cNvSpPr/>
          <p:nvPr/>
        </p:nvSpPr>
        <p:spPr>
          <a:xfrm>
            <a:off x="4102295" y="1187051"/>
            <a:ext cx="4433888" cy="4343401"/>
          </a:xfrm>
          <a:prstGeom prst="ellipse">
            <a:avLst/>
          </a:prstGeom>
          <a:solidFill>
            <a:schemeClr val="tx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Elephant" panose="02020904090505020303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Job Market Analysis</a:t>
            </a:r>
          </a:p>
          <a:p>
            <a:pPr algn="ctr"/>
            <a:r>
              <a:rPr lang="en-IN" sz="2000" dirty="0">
                <a:latin typeface="Elephant" panose="02020904090505020303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- Data Science Industry</a:t>
            </a:r>
          </a:p>
        </p:txBody>
      </p:sp>
    </p:spTree>
    <p:extLst>
      <p:ext uri="{BB962C8B-B14F-4D97-AF65-F5344CB8AC3E}">
        <p14:creationId xmlns:p14="http://schemas.microsoft.com/office/powerpoint/2010/main" val="3967945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3 -1.11111E-6 L -0.23568 -0.2719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19" y="-1361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33333E-6 L 0.23424 -0.2384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06" y="-1192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 0.00139 L -0.21589 0.28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29" y="1419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 L 0.23411 0.2597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06" y="129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9CF95E12-7CA8-92C8-1591-D8729FD906CE}"/>
              </a:ext>
            </a:extLst>
          </p:cNvPr>
          <p:cNvGrpSpPr/>
          <p:nvPr/>
        </p:nvGrpSpPr>
        <p:grpSpPr>
          <a:xfrm>
            <a:off x="5658156" y="5273519"/>
            <a:ext cx="3929061" cy="753318"/>
            <a:chOff x="5658156" y="5273519"/>
            <a:chExt cx="3929061" cy="75331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3E51680-FE14-4E43-2D5A-8B8BE5A4C75F}"/>
                </a:ext>
              </a:extLst>
            </p:cNvPr>
            <p:cNvGrpSpPr/>
            <p:nvPr/>
          </p:nvGrpSpPr>
          <p:grpSpPr>
            <a:xfrm>
              <a:off x="5658156" y="5273519"/>
              <a:ext cx="3929061" cy="753318"/>
              <a:chOff x="5658156" y="5273519"/>
              <a:chExt cx="3929061" cy="753318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F2B67F6F-D9E8-D455-E913-DA6038CB56F4}"/>
                  </a:ext>
                </a:extLst>
              </p:cNvPr>
              <p:cNvSpPr/>
              <p:nvPr/>
            </p:nvSpPr>
            <p:spPr>
              <a:xfrm>
                <a:off x="5658156" y="5290178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70D9FF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D24CB4FF-B424-25CB-FE8B-4AE08A548607}"/>
                  </a:ext>
                </a:extLst>
              </p:cNvPr>
              <p:cNvSpPr/>
              <p:nvPr/>
            </p:nvSpPr>
            <p:spPr>
              <a:xfrm>
                <a:off x="5658156" y="5273519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04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3A9022D-2BBC-D18E-75FD-1B915D59677A}"/>
                </a:ext>
              </a:extLst>
            </p:cNvPr>
            <p:cNvSpPr txBox="1"/>
            <p:nvPr/>
          </p:nvSpPr>
          <p:spPr>
            <a:xfrm>
              <a:off x="6366265" y="5363566"/>
              <a:ext cx="322095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latin typeface="Amasis MT Pro" panose="02040504050005020304" pitchFamily="18" charset="0"/>
                </a:rPr>
                <a:t>High Funding drive Data Science jobs towards these states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67620C2-30EA-BF71-DF4D-C2F61880DC9B}"/>
              </a:ext>
            </a:extLst>
          </p:cNvPr>
          <p:cNvGrpSpPr/>
          <p:nvPr/>
        </p:nvGrpSpPr>
        <p:grpSpPr>
          <a:xfrm>
            <a:off x="6497268" y="3605231"/>
            <a:ext cx="4072078" cy="753318"/>
            <a:chOff x="6497268" y="3605231"/>
            <a:chExt cx="4072078" cy="75331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116627F-45AA-6FA4-120B-BA84D085BD8E}"/>
                </a:ext>
              </a:extLst>
            </p:cNvPr>
            <p:cNvGrpSpPr/>
            <p:nvPr/>
          </p:nvGrpSpPr>
          <p:grpSpPr>
            <a:xfrm>
              <a:off x="6497268" y="3605231"/>
              <a:ext cx="3929061" cy="753318"/>
              <a:chOff x="6497268" y="3605231"/>
              <a:chExt cx="3929061" cy="753318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4B37545E-3197-BFCC-AFD9-C18C247F280F}"/>
                  </a:ext>
                </a:extLst>
              </p:cNvPr>
              <p:cNvSpPr/>
              <p:nvPr/>
            </p:nvSpPr>
            <p:spPr>
              <a:xfrm>
                <a:off x="6497268" y="3605231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1D6E2A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010BE3A4-B395-4909-154B-ADE16D93CBF9}"/>
                  </a:ext>
                </a:extLst>
              </p:cNvPr>
              <p:cNvSpPr/>
              <p:nvPr/>
            </p:nvSpPr>
            <p:spPr>
              <a:xfrm>
                <a:off x="6497268" y="3605231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03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0033C2F-1FA1-C199-1B8C-79F45C328C88}"/>
                </a:ext>
              </a:extLst>
            </p:cNvPr>
            <p:cNvSpPr txBox="1"/>
            <p:nvPr/>
          </p:nvSpPr>
          <p:spPr>
            <a:xfrm>
              <a:off x="7230847" y="3642065"/>
              <a:ext cx="3338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masis MT Pro" panose="02040504050005020304" pitchFamily="18" charset="0"/>
                </a:rPr>
                <a:t>Coastal States dominates due  to silicon valley and wall street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08A5236-AD52-46DD-2819-348AE8CD4282}"/>
              </a:ext>
            </a:extLst>
          </p:cNvPr>
          <p:cNvGrpSpPr/>
          <p:nvPr/>
        </p:nvGrpSpPr>
        <p:grpSpPr>
          <a:xfrm>
            <a:off x="6408823" y="2206895"/>
            <a:ext cx="4036542" cy="753318"/>
            <a:chOff x="6408823" y="2206895"/>
            <a:chExt cx="4036542" cy="75331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30AFA5D-8F75-0B29-274E-2535799F727E}"/>
                </a:ext>
              </a:extLst>
            </p:cNvPr>
            <p:cNvGrpSpPr/>
            <p:nvPr/>
          </p:nvGrpSpPr>
          <p:grpSpPr>
            <a:xfrm>
              <a:off x="6408823" y="2206895"/>
              <a:ext cx="3944832" cy="753318"/>
              <a:chOff x="6408823" y="2206895"/>
              <a:chExt cx="3944832" cy="753318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73ED05D9-9B41-1A8F-A30B-B89E8AA9DBB4}"/>
                  </a:ext>
                </a:extLst>
              </p:cNvPr>
              <p:cNvSpPr/>
              <p:nvPr/>
            </p:nvSpPr>
            <p:spPr>
              <a:xfrm>
                <a:off x="6424594" y="2223554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FFFF0C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6F7FD78D-E588-69BA-519C-CF55D796311E}"/>
                  </a:ext>
                </a:extLst>
              </p:cNvPr>
              <p:cNvSpPr/>
              <p:nvPr/>
            </p:nvSpPr>
            <p:spPr>
              <a:xfrm>
                <a:off x="6408823" y="2206895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02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E4D8E08-BA28-FB9C-790E-1EAE4A0A2D51}"/>
                </a:ext>
              </a:extLst>
            </p:cNvPr>
            <p:cNvSpPr txBox="1"/>
            <p:nvPr/>
          </p:nvSpPr>
          <p:spPr>
            <a:xfrm>
              <a:off x="7106866" y="2239336"/>
              <a:ext cx="3338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Top 3 States ( CA, MA, NY ) hold 43% of total jobs</a:t>
              </a: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7F1F02B2-4DB2-7C72-4F67-B818CBAD1DE2}"/>
              </a:ext>
            </a:extLst>
          </p:cNvPr>
          <p:cNvSpPr/>
          <p:nvPr/>
        </p:nvSpPr>
        <p:spPr>
          <a:xfrm>
            <a:off x="781044" y="1972043"/>
            <a:ext cx="2863676" cy="282334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</a:rPr>
              <a:t>Coastal States Leads U.S. Data Science Hiring</a:t>
            </a:r>
          </a:p>
        </p:txBody>
      </p:sp>
      <p:sp>
        <p:nvSpPr>
          <p:cNvPr id="10" name="Block Arc 9">
            <a:extLst>
              <a:ext uri="{FF2B5EF4-FFF2-40B4-BE49-F238E27FC236}">
                <a16:creationId xmlns:a16="http://schemas.microsoft.com/office/drawing/2014/main" id="{7FF72302-CFBA-2D26-7024-A84E9AB50A00}"/>
              </a:ext>
            </a:extLst>
          </p:cNvPr>
          <p:cNvSpPr/>
          <p:nvPr/>
        </p:nvSpPr>
        <p:spPr>
          <a:xfrm rot="19894018">
            <a:off x="635532" y="1825300"/>
            <a:ext cx="3148880" cy="3116832"/>
          </a:xfrm>
          <a:prstGeom prst="blockArc">
            <a:avLst>
              <a:gd name="adj1" fmla="val 18138812"/>
              <a:gd name="adj2" fmla="val 21125266"/>
              <a:gd name="adj3" fmla="val 5079"/>
            </a:avLst>
          </a:prstGeo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Block Arc 19">
            <a:extLst>
              <a:ext uri="{FF2B5EF4-FFF2-40B4-BE49-F238E27FC236}">
                <a16:creationId xmlns:a16="http://schemas.microsoft.com/office/drawing/2014/main" id="{26B50571-344C-070F-2FB0-73732A4F3320}"/>
              </a:ext>
            </a:extLst>
          </p:cNvPr>
          <p:cNvSpPr/>
          <p:nvPr/>
        </p:nvSpPr>
        <p:spPr>
          <a:xfrm rot="3091017">
            <a:off x="824721" y="1937681"/>
            <a:ext cx="2932848" cy="3090673"/>
          </a:xfrm>
          <a:prstGeom prst="blockArc">
            <a:avLst>
              <a:gd name="adj1" fmla="val 18729798"/>
              <a:gd name="adj2" fmla="val 166116"/>
              <a:gd name="adj3" fmla="val 5306"/>
            </a:avLst>
          </a:prstGeom>
          <a:solidFill>
            <a:schemeClr val="accent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Block Arc 21">
            <a:extLst>
              <a:ext uri="{FF2B5EF4-FFF2-40B4-BE49-F238E27FC236}">
                <a16:creationId xmlns:a16="http://schemas.microsoft.com/office/drawing/2014/main" id="{3BD2689F-2347-1F6E-9B35-391AAA41E27D}"/>
              </a:ext>
            </a:extLst>
          </p:cNvPr>
          <p:cNvSpPr/>
          <p:nvPr/>
        </p:nvSpPr>
        <p:spPr>
          <a:xfrm rot="5733253">
            <a:off x="741434" y="1980522"/>
            <a:ext cx="2886749" cy="3090673"/>
          </a:xfrm>
          <a:prstGeom prst="blockArc">
            <a:avLst>
              <a:gd name="adj1" fmla="val 18840889"/>
              <a:gd name="adj2" fmla="val 21580225"/>
              <a:gd name="adj3" fmla="val 5655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Block Arc 23">
            <a:extLst>
              <a:ext uri="{FF2B5EF4-FFF2-40B4-BE49-F238E27FC236}">
                <a16:creationId xmlns:a16="http://schemas.microsoft.com/office/drawing/2014/main" id="{7ED463C6-E6F1-F572-6F67-F0F22BA701AA}"/>
              </a:ext>
            </a:extLst>
          </p:cNvPr>
          <p:cNvSpPr/>
          <p:nvPr/>
        </p:nvSpPr>
        <p:spPr>
          <a:xfrm rot="1026976">
            <a:off x="647556" y="1825300"/>
            <a:ext cx="3148880" cy="3116832"/>
          </a:xfrm>
          <a:prstGeom prst="blockArc">
            <a:avLst>
              <a:gd name="adj1" fmla="val 18377157"/>
              <a:gd name="adj2" fmla="val 21001090"/>
              <a:gd name="adj3" fmla="val 4528"/>
            </a:avLst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B5AEB61D-21C8-92AE-DC05-8F8E85BA369F}"/>
              </a:ext>
            </a:extLst>
          </p:cNvPr>
          <p:cNvSpPr/>
          <p:nvPr/>
        </p:nvSpPr>
        <p:spPr>
          <a:xfrm>
            <a:off x="200025" y="1257300"/>
            <a:ext cx="4229100" cy="4343400"/>
          </a:xfrm>
          <a:prstGeom prst="arc">
            <a:avLst>
              <a:gd name="adj1" fmla="val 16064777"/>
              <a:gd name="adj2" fmla="val 59811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310DB94-BFDC-8EEB-48A7-2049509C54F7}"/>
              </a:ext>
            </a:extLst>
          </p:cNvPr>
          <p:cNvSpPr/>
          <p:nvPr/>
        </p:nvSpPr>
        <p:spPr>
          <a:xfrm>
            <a:off x="3106997" y="1390508"/>
            <a:ext cx="174517" cy="160083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C6A61FB-E5B8-5222-6035-D38D3153AABA}"/>
              </a:ext>
            </a:extLst>
          </p:cNvPr>
          <p:cNvSpPr/>
          <p:nvPr/>
        </p:nvSpPr>
        <p:spPr>
          <a:xfrm>
            <a:off x="4173868" y="2387718"/>
            <a:ext cx="174517" cy="160083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12A657A-8A7D-4C8D-99E6-C1B295245232}"/>
              </a:ext>
            </a:extLst>
          </p:cNvPr>
          <p:cNvSpPr/>
          <p:nvPr/>
        </p:nvSpPr>
        <p:spPr>
          <a:xfrm>
            <a:off x="3019738" y="5350049"/>
            <a:ext cx="174517" cy="16008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40EF53B-AAFB-672A-87DF-38775E38AAE3}"/>
              </a:ext>
            </a:extLst>
          </p:cNvPr>
          <p:cNvGrpSpPr/>
          <p:nvPr/>
        </p:nvGrpSpPr>
        <p:grpSpPr>
          <a:xfrm>
            <a:off x="5467196" y="553523"/>
            <a:ext cx="3944832" cy="753318"/>
            <a:chOff x="5467196" y="553523"/>
            <a:chExt cx="3944832" cy="75331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A1E676C0-99C7-CFEB-65F6-60BF797041E2}"/>
                </a:ext>
              </a:extLst>
            </p:cNvPr>
            <p:cNvSpPr/>
            <p:nvPr/>
          </p:nvSpPr>
          <p:spPr>
            <a:xfrm>
              <a:off x="5482967" y="586840"/>
              <a:ext cx="3929061" cy="720000"/>
            </a:xfrm>
            <a:prstGeom prst="roundRect">
              <a:avLst>
                <a:gd name="adj" fmla="val 50000"/>
              </a:avLst>
            </a:prstGeom>
            <a:solidFill>
              <a:srgbClr val="FF030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1144E63-9E3A-2F77-2644-CD229552E15F}"/>
                </a:ext>
              </a:extLst>
            </p:cNvPr>
            <p:cNvSpPr txBox="1"/>
            <p:nvPr/>
          </p:nvSpPr>
          <p:spPr>
            <a:xfrm>
              <a:off x="6200775" y="623674"/>
              <a:ext cx="32112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masis MT Pro" panose="02040504050005020304" pitchFamily="18" charset="0"/>
                </a:rPr>
                <a:t>California have the most no of jobs – 20% of all job postings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7652330-C247-5227-B30C-57F49A0282C1}"/>
                </a:ext>
              </a:extLst>
            </p:cNvPr>
            <p:cNvSpPr/>
            <p:nvPr/>
          </p:nvSpPr>
          <p:spPr>
            <a:xfrm>
              <a:off x="5467196" y="553523"/>
              <a:ext cx="733579" cy="75331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1"/>
                  </a:solidFill>
                  <a:latin typeface="Elephant" panose="02020904090505020303" pitchFamily="18" charset="0"/>
                </a:rPr>
                <a:t>01</a:t>
              </a:r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BC1F1E6-B0AD-4A13-B91A-23E852D6B2AF}"/>
              </a:ext>
            </a:extLst>
          </p:cNvPr>
          <p:cNvCxnSpPr>
            <a:cxnSpLocks/>
            <a:stCxn id="27" idx="7"/>
          </p:cNvCxnSpPr>
          <p:nvPr/>
        </p:nvCxnSpPr>
        <p:spPr>
          <a:xfrm flipV="1">
            <a:off x="3255957" y="946840"/>
            <a:ext cx="388763" cy="467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CC8F2E1-FA72-A1B2-4F85-1DEF8063696A}"/>
              </a:ext>
            </a:extLst>
          </p:cNvPr>
          <p:cNvCxnSpPr>
            <a:stCxn id="56" idx="2"/>
          </p:cNvCxnSpPr>
          <p:nvPr/>
        </p:nvCxnSpPr>
        <p:spPr>
          <a:xfrm flipH="1">
            <a:off x="3644720" y="930182"/>
            <a:ext cx="1822476" cy="16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1E3AED7-FF40-60B0-213C-72F7EB52E35C}"/>
              </a:ext>
            </a:extLst>
          </p:cNvPr>
          <p:cNvCxnSpPr>
            <a:cxnSpLocks/>
            <a:stCxn id="60" idx="2"/>
          </p:cNvCxnSpPr>
          <p:nvPr/>
        </p:nvCxnSpPr>
        <p:spPr>
          <a:xfrm flipH="1">
            <a:off x="4705153" y="2583554"/>
            <a:ext cx="17036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ECFF95D-577B-883F-7A32-27D2288492F0}"/>
              </a:ext>
            </a:extLst>
          </p:cNvPr>
          <p:cNvCxnSpPr>
            <a:stCxn id="58" idx="2"/>
          </p:cNvCxnSpPr>
          <p:nvPr/>
        </p:nvCxnSpPr>
        <p:spPr>
          <a:xfrm flipH="1" flipV="1">
            <a:off x="4717378" y="3965231"/>
            <a:ext cx="1779890" cy="16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981E29C-6540-8215-4D6C-9DB3753C612D}"/>
              </a:ext>
            </a:extLst>
          </p:cNvPr>
          <p:cNvCxnSpPr/>
          <p:nvPr/>
        </p:nvCxnSpPr>
        <p:spPr>
          <a:xfrm flipH="1">
            <a:off x="4261126" y="3965231"/>
            <a:ext cx="456252" cy="249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AA7B1029-8CF4-D88E-FF62-806B145987BD}"/>
              </a:ext>
            </a:extLst>
          </p:cNvPr>
          <p:cNvSpPr/>
          <p:nvPr/>
        </p:nvSpPr>
        <p:spPr>
          <a:xfrm>
            <a:off x="4191057" y="4133737"/>
            <a:ext cx="174517" cy="16008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D7ABA3C-5A33-224F-9800-E691646B02D1}"/>
              </a:ext>
            </a:extLst>
          </p:cNvPr>
          <p:cNvCxnSpPr>
            <a:cxnSpLocks/>
            <a:stCxn id="62" idx="3"/>
          </p:cNvCxnSpPr>
          <p:nvPr/>
        </p:nvCxnSpPr>
        <p:spPr>
          <a:xfrm flipH="1">
            <a:off x="3644720" y="5916516"/>
            <a:ext cx="2120866" cy="113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4BB0986-DA76-75AF-6B35-6E9FDFE5AD4B}"/>
              </a:ext>
            </a:extLst>
          </p:cNvPr>
          <p:cNvCxnSpPr>
            <a:endCxn id="33" idx="5"/>
          </p:cNvCxnSpPr>
          <p:nvPr/>
        </p:nvCxnSpPr>
        <p:spPr>
          <a:xfrm flipH="1" flipV="1">
            <a:off x="3168698" y="5486688"/>
            <a:ext cx="476022" cy="429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52FA246-038A-3100-6B89-167FD03DAB49}"/>
              </a:ext>
            </a:extLst>
          </p:cNvPr>
          <p:cNvCxnSpPr>
            <a:endCxn id="29" idx="6"/>
          </p:cNvCxnSpPr>
          <p:nvPr/>
        </p:nvCxnSpPr>
        <p:spPr>
          <a:xfrm flipH="1" flipV="1">
            <a:off x="4348385" y="2467760"/>
            <a:ext cx="356768" cy="115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10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2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750"/>
                            </p:stCondLst>
                            <p:childTnLst>
                              <p:par>
                                <p:cTn id="5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6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25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75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250"/>
                            </p:stCondLst>
                            <p:childTnLst>
                              <p:par>
                                <p:cTn id="9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9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20" grpId="0" animBg="1"/>
      <p:bldP spid="22" grpId="0" animBg="1"/>
      <p:bldP spid="24" grpId="0" animBg="1"/>
      <p:bldP spid="26" grpId="0" animBg="1"/>
      <p:bldP spid="27" grpId="0" animBg="1"/>
      <p:bldP spid="29" grpId="0" animBg="1"/>
      <p:bldP spid="33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31B1DD-EF21-0A54-FF4E-08231E3E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8D36018D-6E24-B9B1-5E98-63384CFBE46C}"/>
              </a:ext>
            </a:extLst>
          </p:cNvPr>
          <p:cNvGrpSpPr/>
          <p:nvPr/>
        </p:nvGrpSpPr>
        <p:grpSpPr>
          <a:xfrm>
            <a:off x="5658156" y="5273519"/>
            <a:ext cx="3929061" cy="753318"/>
            <a:chOff x="5658156" y="5273519"/>
            <a:chExt cx="3929061" cy="75331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5265DE6-F2F4-0C3C-AD51-4835A1906920}"/>
                </a:ext>
              </a:extLst>
            </p:cNvPr>
            <p:cNvGrpSpPr/>
            <p:nvPr/>
          </p:nvGrpSpPr>
          <p:grpSpPr>
            <a:xfrm>
              <a:off x="5658156" y="5273519"/>
              <a:ext cx="3929061" cy="753318"/>
              <a:chOff x="5658156" y="5273519"/>
              <a:chExt cx="3929061" cy="753318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528C2296-B309-59DA-A271-31F7FB031341}"/>
                  </a:ext>
                </a:extLst>
              </p:cNvPr>
              <p:cNvSpPr/>
              <p:nvPr/>
            </p:nvSpPr>
            <p:spPr>
              <a:xfrm>
                <a:off x="5658156" y="5290178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70D9FF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687DAA31-CBDE-1C48-34DB-17C90C2B85C4}"/>
                  </a:ext>
                </a:extLst>
              </p:cNvPr>
              <p:cNvSpPr/>
              <p:nvPr/>
            </p:nvSpPr>
            <p:spPr>
              <a:xfrm>
                <a:off x="5658156" y="5273519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04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6433797-CC4C-BE14-CE4B-2E185BB3E06B}"/>
                </a:ext>
              </a:extLst>
            </p:cNvPr>
            <p:cNvSpPr txBox="1"/>
            <p:nvPr/>
          </p:nvSpPr>
          <p:spPr>
            <a:xfrm>
              <a:off x="6353530" y="5323496"/>
              <a:ext cx="32209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Coastal States Offer 30-40% more than Central States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62F3585-B0FB-EAD9-ED3C-196B9FBE0ED8}"/>
              </a:ext>
            </a:extLst>
          </p:cNvPr>
          <p:cNvGrpSpPr/>
          <p:nvPr/>
        </p:nvGrpSpPr>
        <p:grpSpPr>
          <a:xfrm>
            <a:off x="6497268" y="3605231"/>
            <a:ext cx="4072078" cy="753318"/>
            <a:chOff x="6497268" y="3605231"/>
            <a:chExt cx="4072078" cy="75331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7E57EBB-D274-7728-CA52-EAD10200AB8A}"/>
                </a:ext>
              </a:extLst>
            </p:cNvPr>
            <p:cNvGrpSpPr/>
            <p:nvPr/>
          </p:nvGrpSpPr>
          <p:grpSpPr>
            <a:xfrm>
              <a:off x="6497268" y="3605231"/>
              <a:ext cx="3929061" cy="753318"/>
              <a:chOff x="6497268" y="3605231"/>
              <a:chExt cx="3929061" cy="753318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CA985741-B9D4-CA88-0A67-B8688A11D799}"/>
                  </a:ext>
                </a:extLst>
              </p:cNvPr>
              <p:cNvSpPr/>
              <p:nvPr/>
            </p:nvSpPr>
            <p:spPr>
              <a:xfrm>
                <a:off x="6497268" y="3605231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1D6E2A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020890E7-C4DC-55F4-0E04-DA7703955FA3}"/>
                  </a:ext>
                </a:extLst>
              </p:cNvPr>
              <p:cNvSpPr/>
              <p:nvPr/>
            </p:nvSpPr>
            <p:spPr>
              <a:xfrm>
                <a:off x="6497268" y="3605231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03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DDEC78F-E86C-F625-E2A7-A398C6799BE6}"/>
                </a:ext>
              </a:extLst>
            </p:cNvPr>
            <p:cNvSpPr txBox="1"/>
            <p:nvPr/>
          </p:nvSpPr>
          <p:spPr>
            <a:xfrm>
              <a:off x="7230847" y="3642065"/>
              <a:ext cx="3338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masis MT Pro" panose="02040504050005020304" pitchFamily="18" charset="0"/>
                </a:rPr>
                <a:t>States with Most No of Jobs Constantly Pay Higher Salary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9D52679-C64D-11A5-1BA7-ADEF9C765127}"/>
              </a:ext>
            </a:extLst>
          </p:cNvPr>
          <p:cNvGrpSpPr/>
          <p:nvPr/>
        </p:nvGrpSpPr>
        <p:grpSpPr>
          <a:xfrm>
            <a:off x="6408823" y="2206895"/>
            <a:ext cx="4036542" cy="753318"/>
            <a:chOff x="6408823" y="2206895"/>
            <a:chExt cx="4036542" cy="75331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A6A7B77-D8D0-E2F4-E5CC-0CDE7832451C}"/>
                </a:ext>
              </a:extLst>
            </p:cNvPr>
            <p:cNvGrpSpPr/>
            <p:nvPr/>
          </p:nvGrpSpPr>
          <p:grpSpPr>
            <a:xfrm>
              <a:off x="6408823" y="2206895"/>
              <a:ext cx="3944832" cy="753318"/>
              <a:chOff x="6408823" y="2206895"/>
              <a:chExt cx="3944832" cy="753318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3EBD4BE9-8A5F-AD47-A034-59E895B606B8}"/>
                  </a:ext>
                </a:extLst>
              </p:cNvPr>
              <p:cNvSpPr/>
              <p:nvPr/>
            </p:nvSpPr>
            <p:spPr>
              <a:xfrm>
                <a:off x="6424594" y="2223554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FFFF0C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CB757055-542E-790D-2F9B-3146DA370DB1}"/>
                  </a:ext>
                </a:extLst>
              </p:cNvPr>
              <p:cNvSpPr/>
              <p:nvPr/>
            </p:nvSpPr>
            <p:spPr>
              <a:xfrm>
                <a:off x="6408823" y="2206895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02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1F65145-E9EE-7DDC-F062-4B169C173BC4}"/>
                </a:ext>
              </a:extLst>
            </p:cNvPr>
            <p:cNvSpPr txBox="1"/>
            <p:nvPr/>
          </p:nvSpPr>
          <p:spPr>
            <a:xfrm>
              <a:off x="7106866" y="2239336"/>
              <a:ext cx="3338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IL Ranks #2 with Average Max Salary of $145K</a:t>
              </a: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24627ED8-4AF9-002E-105A-1D9FE68F20F0}"/>
              </a:ext>
            </a:extLst>
          </p:cNvPr>
          <p:cNvSpPr/>
          <p:nvPr/>
        </p:nvSpPr>
        <p:spPr>
          <a:xfrm>
            <a:off x="781044" y="1972043"/>
            <a:ext cx="2863676" cy="282334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</a:rPr>
              <a:t>Where You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</a:rPr>
              <a:t> W</a:t>
            </a: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</a:rPr>
              <a:t>ork Determines, How Much You Earn</a:t>
            </a:r>
          </a:p>
        </p:txBody>
      </p:sp>
      <p:sp>
        <p:nvSpPr>
          <p:cNvPr id="10" name="Block Arc 9">
            <a:extLst>
              <a:ext uri="{FF2B5EF4-FFF2-40B4-BE49-F238E27FC236}">
                <a16:creationId xmlns:a16="http://schemas.microsoft.com/office/drawing/2014/main" id="{27F424CE-F314-BEB8-4F4A-CC1A63BED9AA}"/>
              </a:ext>
            </a:extLst>
          </p:cNvPr>
          <p:cNvSpPr/>
          <p:nvPr/>
        </p:nvSpPr>
        <p:spPr>
          <a:xfrm rot="19894018">
            <a:off x="635532" y="1825300"/>
            <a:ext cx="3148880" cy="3116832"/>
          </a:xfrm>
          <a:prstGeom prst="blockArc">
            <a:avLst>
              <a:gd name="adj1" fmla="val 18138812"/>
              <a:gd name="adj2" fmla="val 21125266"/>
              <a:gd name="adj3" fmla="val 5079"/>
            </a:avLst>
          </a:prstGeo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Block Arc 19">
            <a:extLst>
              <a:ext uri="{FF2B5EF4-FFF2-40B4-BE49-F238E27FC236}">
                <a16:creationId xmlns:a16="http://schemas.microsoft.com/office/drawing/2014/main" id="{E70E70CB-AB54-0B6C-5101-9AD1FBD8BBD7}"/>
              </a:ext>
            </a:extLst>
          </p:cNvPr>
          <p:cNvSpPr/>
          <p:nvPr/>
        </p:nvSpPr>
        <p:spPr>
          <a:xfrm rot="3091017">
            <a:off x="824721" y="1937681"/>
            <a:ext cx="2932848" cy="3090673"/>
          </a:xfrm>
          <a:prstGeom prst="blockArc">
            <a:avLst>
              <a:gd name="adj1" fmla="val 18729798"/>
              <a:gd name="adj2" fmla="val 166116"/>
              <a:gd name="adj3" fmla="val 5306"/>
            </a:avLst>
          </a:prstGeom>
          <a:solidFill>
            <a:schemeClr val="accent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Block Arc 21">
            <a:extLst>
              <a:ext uri="{FF2B5EF4-FFF2-40B4-BE49-F238E27FC236}">
                <a16:creationId xmlns:a16="http://schemas.microsoft.com/office/drawing/2014/main" id="{CF9B5909-771D-BD9F-41E1-0DEF47FF353A}"/>
              </a:ext>
            </a:extLst>
          </p:cNvPr>
          <p:cNvSpPr/>
          <p:nvPr/>
        </p:nvSpPr>
        <p:spPr>
          <a:xfrm rot="5733253">
            <a:off x="741434" y="1980522"/>
            <a:ext cx="2886749" cy="3090673"/>
          </a:xfrm>
          <a:prstGeom prst="blockArc">
            <a:avLst>
              <a:gd name="adj1" fmla="val 18840889"/>
              <a:gd name="adj2" fmla="val 21580225"/>
              <a:gd name="adj3" fmla="val 5655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Block Arc 23">
            <a:extLst>
              <a:ext uri="{FF2B5EF4-FFF2-40B4-BE49-F238E27FC236}">
                <a16:creationId xmlns:a16="http://schemas.microsoft.com/office/drawing/2014/main" id="{CE83B00A-3FF7-1B76-A395-13E0B03AA6A1}"/>
              </a:ext>
            </a:extLst>
          </p:cNvPr>
          <p:cNvSpPr/>
          <p:nvPr/>
        </p:nvSpPr>
        <p:spPr>
          <a:xfrm rot="1026976">
            <a:off x="647556" y="1825300"/>
            <a:ext cx="3148880" cy="3116832"/>
          </a:xfrm>
          <a:prstGeom prst="blockArc">
            <a:avLst>
              <a:gd name="adj1" fmla="val 18377157"/>
              <a:gd name="adj2" fmla="val 21001090"/>
              <a:gd name="adj3" fmla="val 4528"/>
            </a:avLst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ED1BAE9A-476E-3D94-798A-153CA5E8ED45}"/>
              </a:ext>
            </a:extLst>
          </p:cNvPr>
          <p:cNvSpPr/>
          <p:nvPr/>
        </p:nvSpPr>
        <p:spPr>
          <a:xfrm>
            <a:off x="200025" y="1257300"/>
            <a:ext cx="4229100" cy="4343400"/>
          </a:xfrm>
          <a:prstGeom prst="arc">
            <a:avLst>
              <a:gd name="adj1" fmla="val 16064777"/>
              <a:gd name="adj2" fmla="val 59811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7987D13-7B94-0279-4362-200927724D48}"/>
              </a:ext>
            </a:extLst>
          </p:cNvPr>
          <p:cNvSpPr/>
          <p:nvPr/>
        </p:nvSpPr>
        <p:spPr>
          <a:xfrm>
            <a:off x="3106997" y="1390508"/>
            <a:ext cx="174517" cy="160083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C25377C-6A5A-D9A3-D64A-D9059F29E6A7}"/>
              </a:ext>
            </a:extLst>
          </p:cNvPr>
          <p:cNvSpPr/>
          <p:nvPr/>
        </p:nvSpPr>
        <p:spPr>
          <a:xfrm>
            <a:off x="4173868" y="2387718"/>
            <a:ext cx="174517" cy="160083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A7B6CFE-5849-DB79-F06C-DA2FD537401B}"/>
              </a:ext>
            </a:extLst>
          </p:cNvPr>
          <p:cNvSpPr/>
          <p:nvPr/>
        </p:nvSpPr>
        <p:spPr>
          <a:xfrm>
            <a:off x="3019738" y="5350049"/>
            <a:ext cx="174517" cy="16008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50EC3F-99CE-C4AB-22F9-D23619746253}"/>
              </a:ext>
            </a:extLst>
          </p:cNvPr>
          <p:cNvGrpSpPr/>
          <p:nvPr/>
        </p:nvGrpSpPr>
        <p:grpSpPr>
          <a:xfrm>
            <a:off x="5467196" y="553523"/>
            <a:ext cx="3944832" cy="753318"/>
            <a:chOff x="5467196" y="553523"/>
            <a:chExt cx="3944832" cy="75331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25D677A-FBA5-7B2D-0C9E-20100CF0AC2D}"/>
                </a:ext>
              </a:extLst>
            </p:cNvPr>
            <p:cNvSpPr/>
            <p:nvPr/>
          </p:nvSpPr>
          <p:spPr>
            <a:xfrm>
              <a:off x="5482967" y="586840"/>
              <a:ext cx="3929061" cy="720000"/>
            </a:xfrm>
            <a:prstGeom prst="roundRect">
              <a:avLst>
                <a:gd name="adj" fmla="val 50000"/>
              </a:avLst>
            </a:prstGeom>
            <a:solidFill>
              <a:srgbClr val="FF030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97A1261-50B9-B798-4E1E-B05BD3864E33}"/>
                </a:ext>
              </a:extLst>
            </p:cNvPr>
            <p:cNvSpPr txBox="1"/>
            <p:nvPr/>
          </p:nvSpPr>
          <p:spPr>
            <a:xfrm>
              <a:off x="6200775" y="623674"/>
              <a:ext cx="32112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masis MT Pro" panose="02040504050005020304" pitchFamily="18" charset="0"/>
                </a:rPr>
                <a:t>CA Offers Highest Average Max Salary $154.6K 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C4F8593-7E3E-959A-D82C-BC3227A47271}"/>
                </a:ext>
              </a:extLst>
            </p:cNvPr>
            <p:cNvSpPr/>
            <p:nvPr/>
          </p:nvSpPr>
          <p:spPr>
            <a:xfrm>
              <a:off x="5467196" y="553523"/>
              <a:ext cx="733579" cy="75331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1"/>
                  </a:solidFill>
                  <a:latin typeface="Elephant" panose="02020904090505020303" pitchFamily="18" charset="0"/>
                </a:rPr>
                <a:t>01</a:t>
              </a:r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CAD68B4-4346-2E41-CD42-4BE9E2B106B6}"/>
              </a:ext>
            </a:extLst>
          </p:cNvPr>
          <p:cNvCxnSpPr>
            <a:cxnSpLocks/>
            <a:stCxn id="27" idx="7"/>
          </p:cNvCxnSpPr>
          <p:nvPr/>
        </p:nvCxnSpPr>
        <p:spPr>
          <a:xfrm flipV="1">
            <a:off x="3255957" y="946840"/>
            <a:ext cx="388763" cy="467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34EA949-FCE4-1463-CC0F-305E35817D84}"/>
              </a:ext>
            </a:extLst>
          </p:cNvPr>
          <p:cNvCxnSpPr>
            <a:stCxn id="56" idx="2"/>
          </p:cNvCxnSpPr>
          <p:nvPr/>
        </p:nvCxnSpPr>
        <p:spPr>
          <a:xfrm flipH="1">
            <a:off x="3644720" y="930182"/>
            <a:ext cx="1822476" cy="16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F69B7E6-42D1-FEF4-2082-00077A2840D7}"/>
              </a:ext>
            </a:extLst>
          </p:cNvPr>
          <p:cNvCxnSpPr>
            <a:cxnSpLocks/>
            <a:stCxn id="60" idx="2"/>
          </p:cNvCxnSpPr>
          <p:nvPr/>
        </p:nvCxnSpPr>
        <p:spPr>
          <a:xfrm flipH="1">
            <a:off x="4705153" y="2583554"/>
            <a:ext cx="17036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BD2436B-66DD-2C5C-21DA-175C2F9732FA}"/>
              </a:ext>
            </a:extLst>
          </p:cNvPr>
          <p:cNvCxnSpPr>
            <a:stCxn id="58" idx="2"/>
          </p:cNvCxnSpPr>
          <p:nvPr/>
        </p:nvCxnSpPr>
        <p:spPr>
          <a:xfrm flipH="1" flipV="1">
            <a:off x="4717378" y="3965231"/>
            <a:ext cx="1779890" cy="16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38355E1-2E3D-70C4-CBBB-D0568477C34D}"/>
              </a:ext>
            </a:extLst>
          </p:cNvPr>
          <p:cNvCxnSpPr/>
          <p:nvPr/>
        </p:nvCxnSpPr>
        <p:spPr>
          <a:xfrm flipH="1">
            <a:off x="4261126" y="3965231"/>
            <a:ext cx="456252" cy="249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5373800D-345B-8862-3E73-1702D68AB525}"/>
              </a:ext>
            </a:extLst>
          </p:cNvPr>
          <p:cNvSpPr/>
          <p:nvPr/>
        </p:nvSpPr>
        <p:spPr>
          <a:xfrm>
            <a:off x="4191057" y="4133737"/>
            <a:ext cx="174517" cy="16008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14D206B-84BE-9B53-7806-C3C2F816EEB7}"/>
              </a:ext>
            </a:extLst>
          </p:cNvPr>
          <p:cNvCxnSpPr>
            <a:cxnSpLocks/>
            <a:stCxn id="62" idx="3"/>
          </p:cNvCxnSpPr>
          <p:nvPr/>
        </p:nvCxnSpPr>
        <p:spPr>
          <a:xfrm flipH="1">
            <a:off x="3644720" y="5916516"/>
            <a:ext cx="2120866" cy="113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4BABBA5-127A-3DA2-8848-4AA48430E36A}"/>
              </a:ext>
            </a:extLst>
          </p:cNvPr>
          <p:cNvCxnSpPr>
            <a:endCxn id="33" idx="5"/>
          </p:cNvCxnSpPr>
          <p:nvPr/>
        </p:nvCxnSpPr>
        <p:spPr>
          <a:xfrm flipH="1" flipV="1">
            <a:off x="3168698" y="5486688"/>
            <a:ext cx="476022" cy="429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C3C7C42-71C2-347B-1ABD-2948E9690B94}"/>
              </a:ext>
            </a:extLst>
          </p:cNvPr>
          <p:cNvCxnSpPr>
            <a:endCxn id="29" idx="6"/>
          </p:cNvCxnSpPr>
          <p:nvPr/>
        </p:nvCxnSpPr>
        <p:spPr>
          <a:xfrm flipH="1" flipV="1">
            <a:off x="4348385" y="2467760"/>
            <a:ext cx="356768" cy="115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32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2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750"/>
                            </p:stCondLst>
                            <p:childTnLst>
                              <p:par>
                                <p:cTn id="5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6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25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75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250"/>
                            </p:stCondLst>
                            <p:childTnLst>
                              <p:par>
                                <p:cTn id="9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9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20" grpId="0" animBg="1"/>
      <p:bldP spid="22" grpId="0" animBg="1"/>
      <p:bldP spid="24" grpId="0" animBg="1"/>
      <p:bldP spid="26" grpId="0" animBg="1"/>
      <p:bldP spid="27" grpId="0" animBg="1"/>
      <p:bldP spid="29" grpId="0" animBg="1"/>
      <p:bldP spid="33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E5048-50FC-0E73-58B5-6C46D9AA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9C1E75F6-762F-AF98-2A07-EB1C26D92334}"/>
              </a:ext>
            </a:extLst>
          </p:cNvPr>
          <p:cNvGrpSpPr/>
          <p:nvPr/>
        </p:nvGrpSpPr>
        <p:grpSpPr>
          <a:xfrm>
            <a:off x="5658156" y="5273519"/>
            <a:ext cx="3929061" cy="753318"/>
            <a:chOff x="5658156" y="5273519"/>
            <a:chExt cx="3929061" cy="75331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A7D05AF-FD45-47B7-2175-E0B3A481EC5C}"/>
                </a:ext>
              </a:extLst>
            </p:cNvPr>
            <p:cNvGrpSpPr/>
            <p:nvPr/>
          </p:nvGrpSpPr>
          <p:grpSpPr>
            <a:xfrm>
              <a:off x="5658156" y="5273519"/>
              <a:ext cx="3929061" cy="753318"/>
              <a:chOff x="5658156" y="5273519"/>
              <a:chExt cx="3929061" cy="753318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11CDEE4F-398B-B2D1-AA53-A423AA9AAADF}"/>
                  </a:ext>
                </a:extLst>
              </p:cNvPr>
              <p:cNvSpPr/>
              <p:nvPr/>
            </p:nvSpPr>
            <p:spPr>
              <a:xfrm>
                <a:off x="5658156" y="5290178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70D9FF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CCE62317-4F9A-1056-1ADB-0B142033A679}"/>
                  </a:ext>
                </a:extLst>
              </p:cNvPr>
              <p:cNvSpPr/>
              <p:nvPr/>
            </p:nvSpPr>
            <p:spPr>
              <a:xfrm>
                <a:off x="5658156" y="5273519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04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F45E26-5EB6-4D27-4C6E-B7F86769BE0C}"/>
                </a:ext>
              </a:extLst>
            </p:cNvPr>
            <p:cNvSpPr txBox="1"/>
            <p:nvPr/>
          </p:nvSpPr>
          <p:spPr>
            <a:xfrm>
              <a:off x="6353530" y="5323496"/>
              <a:ext cx="32209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Private companies account for 55% of all postings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799EEB-96D8-449E-9E16-27A03E307062}"/>
              </a:ext>
            </a:extLst>
          </p:cNvPr>
          <p:cNvGrpSpPr/>
          <p:nvPr/>
        </p:nvGrpSpPr>
        <p:grpSpPr>
          <a:xfrm>
            <a:off x="6497268" y="3605231"/>
            <a:ext cx="4072078" cy="753318"/>
            <a:chOff x="6497268" y="3605231"/>
            <a:chExt cx="4072078" cy="75331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0A7FE94-2C1A-9425-4C18-3274DDCBD3A8}"/>
                </a:ext>
              </a:extLst>
            </p:cNvPr>
            <p:cNvGrpSpPr/>
            <p:nvPr/>
          </p:nvGrpSpPr>
          <p:grpSpPr>
            <a:xfrm>
              <a:off x="6497268" y="3605231"/>
              <a:ext cx="3929061" cy="753318"/>
              <a:chOff x="6497268" y="3605231"/>
              <a:chExt cx="3929061" cy="753318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908A23BE-2BE7-77D4-8D30-F5245030BCC7}"/>
                  </a:ext>
                </a:extLst>
              </p:cNvPr>
              <p:cNvSpPr/>
              <p:nvPr/>
            </p:nvSpPr>
            <p:spPr>
              <a:xfrm>
                <a:off x="6497268" y="3605231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1D6E2A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1FF4809-6957-6E29-DEDF-A74BF354F375}"/>
                  </a:ext>
                </a:extLst>
              </p:cNvPr>
              <p:cNvSpPr/>
              <p:nvPr/>
            </p:nvSpPr>
            <p:spPr>
              <a:xfrm>
                <a:off x="6497268" y="3605231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03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8D2C32-68B6-4F1B-75DE-A31D379AA628}"/>
                </a:ext>
              </a:extLst>
            </p:cNvPr>
            <p:cNvSpPr txBox="1"/>
            <p:nvPr/>
          </p:nvSpPr>
          <p:spPr>
            <a:xfrm>
              <a:off x="7230847" y="3642065"/>
              <a:ext cx="3338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masis MT Pro" panose="02040504050005020304" pitchFamily="18" charset="0"/>
                </a:rPr>
                <a:t>MassMutual tops all companies in DS hiring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BB26114-0C4B-6D21-0EB1-AFEF1FFDA94A}"/>
              </a:ext>
            </a:extLst>
          </p:cNvPr>
          <p:cNvGrpSpPr/>
          <p:nvPr/>
        </p:nvGrpSpPr>
        <p:grpSpPr>
          <a:xfrm>
            <a:off x="6408823" y="2206895"/>
            <a:ext cx="4036542" cy="753318"/>
            <a:chOff x="6408823" y="2206895"/>
            <a:chExt cx="4036542" cy="75331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FFC76E9-C59D-55CE-C4E5-A1F3427CBE7E}"/>
                </a:ext>
              </a:extLst>
            </p:cNvPr>
            <p:cNvGrpSpPr/>
            <p:nvPr/>
          </p:nvGrpSpPr>
          <p:grpSpPr>
            <a:xfrm>
              <a:off x="6408823" y="2206895"/>
              <a:ext cx="3944832" cy="753318"/>
              <a:chOff x="6408823" y="2206895"/>
              <a:chExt cx="3944832" cy="753318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F541EE91-FA55-DD52-E0F0-06A1D246733E}"/>
                  </a:ext>
                </a:extLst>
              </p:cNvPr>
              <p:cNvSpPr/>
              <p:nvPr/>
            </p:nvSpPr>
            <p:spPr>
              <a:xfrm>
                <a:off x="6424594" y="2223554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FFFF0C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18876D62-B002-A59E-9F20-A6A2CEF0572C}"/>
                  </a:ext>
                </a:extLst>
              </p:cNvPr>
              <p:cNvSpPr/>
              <p:nvPr/>
            </p:nvSpPr>
            <p:spPr>
              <a:xfrm>
                <a:off x="6408823" y="2206895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02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74C0EE-EBE2-7D8C-8183-3B935DD15D2D}"/>
                </a:ext>
              </a:extLst>
            </p:cNvPr>
            <p:cNvSpPr txBox="1"/>
            <p:nvPr/>
          </p:nvSpPr>
          <p:spPr>
            <a:xfrm>
              <a:off x="7106866" y="2239336"/>
              <a:ext cx="3338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Insurance &amp; IT Services follow closely behind</a:t>
              </a: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FD6FA915-76B9-796C-E313-BD9A004BAF68}"/>
              </a:ext>
            </a:extLst>
          </p:cNvPr>
          <p:cNvSpPr/>
          <p:nvPr/>
        </p:nvSpPr>
        <p:spPr>
          <a:xfrm>
            <a:off x="781044" y="1972043"/>
            <a:ext cx="2863676" cy="282334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Elephant" panose="02020904090505020303" pitchFamily="18" charset="0"/>
              </a:rPr>
              <a:t>Who Is Hiring Data Scientists?</a:t>
            </a:r>
          </a:p>
        </p:txBody>
      </p:sp>
      <p:sp>
        <p:nvSpPr>
          <p:cNvPr id="10" name="Block Arc 9">
            <a:extLst>
              <a:ext uri="{FF2B5EF4-FFF2-40B4-BE49-F238E27FC236}">
                <a16:creationId xmlns:a16="http://schemas.microsoft.com/office/drawing/2014/main" id="{0CAA1087-612A-F4D8-6EC2-F4B59B959C5A}"/>
              </a:ext>
            </a:extLst>
          </p:cNvPr>
          <p:cNvSpPr/>
          <p:nvPr/>
        </p:nvSpPr>
        <p:spPr>
          <a:xfrm rot="19894018">
            <a:off x="635532" y="1825300"/>
            <a:ext cx="3148880" cy="3116832"/>
          </a:xfrm>
          <a:prstGeom prst="blockArc">
            <a:avLst>
              <a:gd name="adj1" fmla="val 18138812"/>
              <a:gd name="adj2" fmla="val 21125266"/>
              <a:gd name="adj3" fmla="val 5079"/>
            </a:avLst>
          </a:prstGeo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Block Arc 19">
            <a:extLst>
              <a:ext uri="{FF2B5EF4-FFF2-40B4-BE49-F238E27FC236}">
                <a16:creationId xmlns:a16="http://schemas.microsoft.com/office/drawing/2014/main" id="{766844FD-0550-54B3-E610-C638D468F67C}"/>
              </a:ext>
            </a:extLst>
          </p:cNvPr>
          <p:cNvSpPr/>
          <p:nvPr/>
        </p:nvSpPr>
        <p:spPr>
          <a:xfrm rot="3091017">
            <a:off x="824721" y="1937681"/>
            <a:ext cx="2932848" cy="3090673"/>
          </a:xfrm>
          <a:prstGeom prst="blockArc">
            <a:avLst>
              <a:gd name="adj1" fmla="val 18729798"/>
              <a:gd name="adj2" fmla="val 166116"/>
              <a:gd name="adj3" fmla="val 5306"/>
            </a:avLst>
          </a:prstGeom>
          <a:solidFill>
            <a:schemeClr val="accent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Block Arc 21">
            <a:extLst>
              <a:ext uri="{FF2B5EF4-FFF2-40B4-BE49-F238E27FC236}">
                <a16:creationId xmlns:a16="http://schemas.microsoft.com/office/drawing/2014/main" id="{9849F95C-A798-7181-C4FF-DAD32ABE238A}"/>
              </a:ext>
            </a:extLst>
          </p:cNvPr>
          <p:cNvSpPr/>
          <p:nvPr/>
        </p:nvSpPr>
        <p:spPr>
          <a:xfrm rot="5733253">
            <a:off x="741434" y="1980522"/>
            <a:ext cx="2886749" cy="3090673"/>
          </a:xfrm>
          <a:prstGeom prst="blockArc">
            <a:avLst>
              <a:gd name="adj1" fmla="val 18840889"/>
              <a:gd name="adj2" fmla="val 21580225"/>
              <a:gd name="adj3" fmla="val 5655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Block Arc 23">
            <a:extLst>
              <a:ext uri="{FF2B5EF4-FFF2-40B4-BE49-F238E27FC236}">
                <a16:creationId xmlns:a16="http://schemas.microsoft.com/office/drawing/2014/main" id="{78EFE228-656B-A13A-321B-E769CA6D5711}"/>
              </a:ext>
            </a:extLst>
          </p:cNvPr>
          <p:cNvSpPr/>
          <p:nvPr/>
        </p:nvSpPr>
        <p:spPr>
          <a:xfrm rot="1026976">
            <a:off x="647556" y="1825300"/>
            <a:ext cx="3148880" cy="3116832"/>
          </a:xfrm>
          <a:prstGeom prst="blockArc">
            <a:avLst>
              <a:gd name="adj1" fmla="val 18377157"/>
              <a:gd name="adj2" fmla="val 21001090"/>
              <a:gd name="adj3" fmla="val 4528"/>
            </a:avLst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30C28772-D3B1-2236-973A-BEC9ACEE31C4}"/>
              </a:ext>
            </a:extLst>
          </p:cNvPr>
          <p:cNvSpPr/>
          <p:nvPr/>
        </p:nvSpPr>
        <p:spPr>
          <a:xfrm>
            <a:off x="200025" y="1257300"/>
            <a:ext cx="4229100" cy="4343400"/>
          </a:xfrm>
          <a:prstGeom prst="arc">
            <a:avLst>
              <a:gd name="adj1" fmla="val 16064777"/>
              <a:gd name="adj2" fmla="val 59811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12589E5-E277-A19A-2333-4D1223A88EFC}"/>
              </a:ext>
            </a:extLst>
          </p:cNvPr>
          <p:cNvSpPr/>
          <p:nvPr/>
        </p:nvSpPr>
        <p:spPr>
          <a:xfrm>
            <a:off x="3106997" y="1390508"/>
            <a:ext cx="174517" cy="160083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B8C8A6C-9E60-E3AC-EFAB-125A902CBA50}"/>
              </a:ext>
            </a:extLst>
          </p:cNvPr>
          <p:cNvSpPr/>
          <p:nvPr/>
        </p:nvSpPr>
        <p:spPr>
          <a:xfrm>
            <a:off x="4173868" y="2387718"/>
            <a:ext cx="174517" cy="160083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D078A89-98BB-7326-3E4F-696D51C69199}"/>
              </a:ext>
            </a:extLst>
          </p:cNvPr>
          <p:cNvSpPr/>
          <p:nvPr/>
        </p:nvSpPr>
        <p:spPr>
          <a:xfrm>
            <a:off x="3019738" y="5350049"/>
            <a:ext cx="174517" cy="16008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07143FA-EE6F-E1C8-7C7A-7B5D35E0BC61}"/>
              </a:ext>
            </a:extLst>
          </p:cNvPr>
          <p:cNvGrpSpPr/>
          <p:nvPr/>
        </p:nvGrpSpPr>
        <p:grpSpPr>
          <a:xfrm>
            <a:off x="5467196" y="553523"/>
            <a:ext cx="3944832" cy="753318"/>
            <a:chOff x="5467196" y="553523"/>
            <a:chExt cx="3944832" cy="75331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A3126A7-A083-FB79-1E6E-641C88B98964}"/>
                </a:ext>
              </a:extLst>
            </p:cNvPr>
            <p:cNvSpPr/>
            <p:nvPr/>
          </p:nvSpPr>
          <p:spPr>
            <a:xfrm>
              <a:off x="5482967" y="586840"/>
              <a:ext cx="3929061" cy="720000"/>
            </a:xfrm>
            <a:prstGeom prst="roundRect">
              <a:avLst>
                <a:gd name="adj" fmla="val 50000"/>
              </a:avLst>
            </a:prstGeom>
            <a:solidFill>
              <a:srgbClr val="FF030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99DD32C-8EAA-4BE4-9D17-B07E5E7C7E95}"/>
                </a:ext>
              </a:extLst>
            </p:cNvPr>
            <p:cNvSpPr txBox="1"/>
            <p:nvPr/>
          </p:nvSpPr>
          <p:spPr>
            <a:xfrm>
              <a:off x="6200775" y="623674"/>
              <a:ext cx="32112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masis MT Pro" panose="02040504050005020304" pitchFamily="18" charset="0"/>
                </a:rPr>
                <a:t>Biotech &amp; Pharma is the No.1 industry for DS jobs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A273E40-7E00-AAB9-7686-64C40A560B6A}"/>
                </a:ext>
              </a:extLst>
            </p:cNvPr>
            <p:cNvSpPr/>
            <p:nvPr/>
          </p:nvSpPr>
          <p:spPr>
            <a:xfrm>
              <a:off x="5467196" y="553523"/>
              <a:ext cx="733579" cy="75331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1"/>
                  </a:solidFill>
                  <a:latin typeface="Elephant" panose="02020904090505020303" pitchFamily="18" charset="0"/>
                </a:rPr>
                <a:t>01</a:t>
              </a:r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A77807C-FB1B-076D-3197-B5C32D778E2D}"/>
              </a:ext>
            </a:extLst>
          </p:cNvPr>
          <p:cNvCxnSpPr>
            <a:cxnSpLocks/>
            <a:stCxn id="27" idx="7"/>
          </p:cNvCxnSpPr>
          <p:nvPr/>
        </p:nvCxnSpPr>
        <p:spPr>
          <a:xfrm flipV="1">
            <a:off x="3255957" y="946840"/>
            <a:ext cx="388763" cy="467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E8E90F9-493C-0B87-3EFF-15262F261C5F}"/>
              </a:ext>
            </a:extLst>
          </p:cNvPr>
          <p:cNvCxnSpPr>
            <a:stCxn id="56" idx="2"/>
          </p:cNvCxnSpPr>
          <p:nvPr/>
        </p:nvCxnSpPr>
        <p:spPr>
          <a:xfrm flipH="1">
            <a:off x="3644720" y="930182"/>
            <a:ext cx="1822476" cy="16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9D66E9D-9995-AA4E-8497-05EB303810BA}"/>
              </a:ext>
            </a:extLst>
          </p:cNvPr>
          <p:cNvCxnSpPr>
            <a:cxnSpLocks/>
            <a:stCxn id="60" idx="2"/>
          </p:cNvCxnSpPr>
          <p:nvPr/>
        </p:nvCxnSpPr>
        <p:spPr>
          <a:xfrm flipH="1">
            <a:off x="4705153" y="2583554"/>
            <a:ext cx="17036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749E4E3-F40D-4055-BC98-56E8601E67EF}"/>
              </a:ext>
            </a:extLst>
          </p:cNvPr>
          <p:cNvCxnSpPr>
            <a:stCxn id="58" idx="2"/>
          </p:cNvCxnSpPr>
          <p:nvPr/>
        </p:nvCxnSpPr>
        <p:spPr>
          <a:xfrm flipH="1" flipV="1">
            <a:off x="4717378" y="3965231"/>
            <a:ext cx="1779890" cy="16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ACC089F-5569-42DD-A46C-6DDE833CA3EB}"/>
              </a:ext>
            </a:extLst>
          </p:cNvPr>
          <p:cNvCxnSpPr/>
          <p:nvPr/>
        </p:nvCxnSpPr>
        <p:spPr>
          <a:xfrm flipH="1">
            <a:off x="4261126" y="3965231"/>
            <a:ext cx="456252" cy="249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2B8EC114-E8F0-F2D5-3351-94C41CC6F245}"/>
              </a:ext>
            </a:extLst>
          </p:cNvPr>
          <p:cNvSpPr/>
          <p:nvPr/>
        </p:nvSpPr>
        <p:spPr>
          <a:xfrm>
            <a:off x="4191057" y="4133737"/>
            <a:ext cx="174517" cy="16008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456F569-74E0-9099-EB1E-B6D475E3259B}"/>
              </a:ext>
            </a:extLst>
          </p:cNvPr>
          <p:cNvCxnSpPr>
            <a:cxnSpLocks/>
            <a:stCxn id="62" idx="3"/>
          </p:cNvCxnSpPr>
          <p:nvPr/>
        </p:nvCxnSpPr>
        <p:spPr>
          <a:xfrm flipH="1">
            <a:off x="3644720" y="5916516"/>
            <a:ext cx="2120866" cy="113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BEB80F9-921D-4DA2-1C90-2C91089AA793}"/>
              </a:ext>
            </a:extLst>
          </p:cNvPr>
          <p:cNvCxnSpPr>
            <a:endCxn id="33" idx="5"/>
          </p:cNvCxnSpPr>
          <p:nvPr/>
        </p:nvCxnSpPr>
        <p:spPr>
          <a:xfrm flipH="1" flipV="1">
            <a:off x="3168698" y="5486688"/>
            <a:ext cx="476022" cy="429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7918F32-0056-99CA-8F0F-271B80B0F301}"/>
              </a:ext>
            </a:extLst>
          </p:cNvPr>
          <p:cNvCxnSpPr>
            <a:endCxn id="29" idx="6"/>
          </p:cNvCxnSpPr>
          <p:nvPr/>
        </p:nvCxnSpPr>
        <p:spPr>
          <a:xfrm flipH="1" flipV="1">
            <a:off x="4348385" y="2467760"/>
            <a:ext cx="356768" cy="115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71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2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750"/>
                            </p:stCondLst>
                            <p:childTnLst>
                              <p:par>
                                <p:cTn id="5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6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25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75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250"/>
                            </p:stCondLst>
                            <p:childTnLst>
                              <p:par>
                                <p:cTn id="9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9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20" grpId="0" animBg="1"/>
      <p:bldP spid="22" grpId="0" animBg="1"/>
      <p:bldP spid="24" grpId="0" animBg="1"/>
      <p:bldP spid="26" grpId="0" animBg="1"/>
      <p:bldP spid="27" grpId="0" animBg="1"/>
      <p:bldP spid="29" grpId="0" animBg="1"/>
      <p:bldP spid="33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A1796-B6DA-AE53-E6CE-0CC775FD3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D8EB8CC7-F85D-72A6-FB84-13FD5C4B0E2B}"/>
              </a:ext>
            </a:extLst>
          </p:cNvPr>
          <p:cNvGrpSpPr/>
          <p:nvPr/>
        </p:nvGrpSpPr>
        <p:grpSpPr>
          <a:xfrm>
            <a:off x="5658156" y="5273519"/>
            <a:ext cx="3929061" cy="753318"/>
            <a:chOff x="5658156" y="5273519"/>
            <a:chExt cx="3929061" cy="75331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7691AC1-5789-25C4-8A6E-A78C1A935605}"/>
                </a:ext>
              </a:extLst>
            </p:cNvPr>
            <p:cNvGrpSpPr/>
            <p:nvPr/>
          </p:nvGrpSpPr>
          <p:grpSpPr>
            <a:xfrm>
              <a:off x="5658156" y="5273519"/>
              <a:ext cx="3929061" cy="753318"/>
              <a:chOff x="5658156" y="5273519"/>
              <a:chExt cx="3929061" cy="753318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7C11D6A9-2FCF-60A0-9476-D74C5767909A}"/>
                  </a:ext>
                </a:extLst>
              </p:cNvPr>
              <p:cNvSpPr/>
              <p:nvPr/>
            </p:nvSpPr>
            <p:spPr>
              <a:xfrm>
                <a:off x="5658156" y="5290178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70D9FF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B1E863F2-5BB7-FA9D-026B-250CC3082075}"/>
                  </a:ext>
                </a:extLst>
              </p:cNvPr>
              <p:cNvSpPr/>
              <p:nvPr/>
            </p:nvSpPr>
            <p:spPr>
              <a:xfrm>
                <a:off x="5658156" y="5273519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04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309972-CB84-9C7C-C7AB-4167C6779069}"/>
                </a:ext>
              </a:extLst>
            </p:cNvPr>
            <p:cNvSpPr txBox="1"/>
            <p:nvPr/>
          </p:nvSpPr>
          <p:spPr>
            <a:xfrm>
              <a:off x="6353530" y="5323496"/>
              <a:ext cx="32209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Analyst roles offer entry point into DS career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9FB15D0-1048-9BD0-FF98-91A0402063D7}"/>
              </a:ext>
            </a:extLst>
          </p:cNvPr>
          <p:cNvGrpSpPr/>
          <p:nvPr/>
        </p:nvGrpSpPr>
        <p:grpSpPr>
          <a:xfrm>
            <a:off x="6497268" y="3605231"/>
            <a:ext cx="4072078" cy="753318"/>
            <a:chOff x="6497268" y="3605231"/>
            <a:chExt cx="4072078" cy="75331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0D53452-EB57-EAAD-1CB4-39F44329895F}"/>
                </a:ext>
              </a:extLst>
            </p:cNvPr>
            <p:cNvGrpSpPr/>
            <p:nvPr/>
          </p:nvGrpSpPr>
          <p:grpSpPr>
            <a:xfrm>
              <a:off x="6497268" y="3605231"/>
              <a:ext cx="3929061" cy="753318"/>
              <a:chOff x="6497268" y="3605231"/>
              <a:chExt cx="3929061" cy="753318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AFC8B87E-3D70-92C8-0438-1BFBF4CE76CA}"/>
                  </a:ext>
                </a:extLst>
              </p:cNvPr>
              <p:cNvSpPr/>
              <p:nvPr/>
            </p:nvSpPr>
            <p:spPr>
              <a:xfrm>
                <a:off x="6497268" y="3605231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1D6E2A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7E02450-944A-AC07-3444-24E45599DF59}"/>
                  </a:ext>
                </a:extLst>
              </p:cNvPr>
              <p:cNvSpPr/>
              <p:nvPr/>
            </p:nvSpPr>
            <p:spPr>
              <a:xfrm>
                <a:off x="6497268" y="3605231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03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5E4560-5F44-B5AA-6A69-3CA0A5A27A73}"/>
                </a:ext>
              </a:extLst>
            </p:cNvPr>
            <p:cNvSpPr txBox="1"/>
            <p:nvPr/>
          </p:nvSpPr>
          <p:spPr>
            <a:xfrm>
              <a:off x="7230847" y="3642065"/>
              <a:ext cx="3338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masis MT Pro" panose="02040504050005020304" pitchFamily="18" charset="0"/>
                </a:rPr>
                <a:t>ML Engineers earn more than Data Scientists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5C88904-05E4-2A37-1339-5E698099E6F9}"/>
              </a:ext>
            </a:extLst>
          </p:cNvPr>
          <p:cNvGrpSpPr/>
          <p:nvPr/>
        </p:nvGrpSpPr>
        <p:grpSpPr>
          <a:xfrm>
            <a:off x="6408823" y="2206895"/>
            <a:ext cx="3960604" cy="753318"/>
            <a:chOff x="6408823" y="2206895"/>
            <a:chExt cx="3960604" cy="75331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59F66A0-21C5-3F8C-C4EF-861D4EA460C2}"/>
                </a:ext>
              </a:extLst>
            </p:cNvPr>
            <p:cNvGrpSpPr/>
            <p:nvPr/>
          </p:nvGrpSpPr>
          <p:grpSpPr>
            <a:xfrm>
              <a:off x="6408823" y="2206895"/>
              <a:ext cx="3944832" cy="753318"/>
              <a:chOff x="6408823" y="2206895"/>
              <a:chExt cx="3944832" cy="753318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151D9710-A699-B93B-B6DF-777677CAD5CE}"/>
                  </a:ext>
                </a:extLst>
              </p:cNvPr>
              <p:cNvSpPr/>
              <p:nvPr/>
            </p:nvSpPr>
            <p:spPr>
              <a:xfrm>
                <a:off x="6424594" y="2223554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FFFF0C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25F45078-D83F-45C8-AE28-DF6CC85FDB58}"/>
                  </a:ext>
                </a:extLst>
              </p:cNvPr>
              <p:cNvSpPr/>
              <p:nvPr/>
            </p:nvSpPr>
            <p:spPr>
              <a:xfrm>
                <a:off x="6408823" y="2206895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02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D048796-1577-3DDE-ECC3-F98AF5B7C1E3}"/>
                </a:ext>
              </a:extLst>
            </p:cNvPr>
            <p:cNvSpPr txBox="1"/>
            <p:nvPr/>
          </p:nvSpPr>
          <p:spPr>
            <a:xfrm>
              <a:off x="7106867" y="2239336"/>
              <a:ext cx="32625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Director level roles offer highest average salary</a:t>
              </a: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25483498-F945-2815-01E7-E713F9D9F86B}"/>
              </a:ext>
            </a:extLst>
          </p:cNvPr>
          <p:cNvSpPr/>
          <p:nvPr/>
        </p:nvSpPr>
        <p:spPr>
          <a:xfrm>
            <a:off x="781044" y="1972043"/>
            <a:ext cx="2863676" cy="282334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Elephant" panose="02020904090505020303" pitchFamily="18" charset="0"/>
              </a:rPr>
              <a:t>Your Job Title Defines Your Market Value</a:t>
            </a:r>
          </a:p>
        </p:txBody>
      </p:sp>
      <p:sp>
        <p:nvSpPr>
          <p:cNvPr id="10" name="Block Arc 9">
            <a:extLst>
              <a:ext uri="{FF2B5EF4-FFF2-40B4-BE49-F238E27FC236}">
                <a16:creationId xmlns:a16="http://schemas.microsoft.com/office/drawing/2014/main" id="{285F8293-00EC-7F2B-E89C-32573B255A38}"/>
              </a:ext>
            </a:extLst>
          </p:cNvPr>
          <p:cNvSpPr/>
          <p:nvPr/>
        </p:nvSpPr>
        <p:spPr>
          <a:xfrm rot="19894018">
            <a:off x="635532" y="1825300"/>
            <a:ext cx="3148880" cy="3116832"/>
          </a:xfrm>
          <a:prstGeom prst="blockArc">
            <a:avLst>
              <a:gd name="adj1" fmla="val 18138812"/>
              <a:gd name="adj2" fmla="val 21125266"/>
              <a:gd name="adj3" fmla="val 5079"/>
            </a:avLst>
          </a:prstGeo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Block Arc 19">
            <a:extLst>
              <a:ext uri="{FF2B5EF4-FFF2-40B4-BE49-F238E27FC236}">
                <a16:creationId xmlns:a16="http://schemas.microsoft.com/office/drawing/2014/main" id="{22633C15-CD2C-2583-B558-89C603F5C8C6}"/>
              </a:ext>
            </a:extLst>
          </p:cNvPr>
          <p:cNvSpPr/>
          <p:nvPr/>
        </p:nvSpPr>
        <p:spPr>
          <a:xfrm rot="3091017">
            <a:off x="824721" y="1937681"/>
            <a:ext cx="2932848" cy="3090673"/>
          </a:xfrm>
          <a:prstGeom prst="blockArc">
            <a:avLst>
              <a:gd name="adj1" fmla="val 18729798"/>
              <a:gd name="adj2" fmla="val 166116"/>
              <a:gd name="adj3" fmla="val 5306"/>
            </a:avLst>
          </a:prstGeom>
          <a:solidFill>
            <a:schemeClr val="accent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Block Arc 21">
            <a:extLst>
              <a:ext uri="{FF2B5EF4-FFF2-40B4-BE49-F238E27FC236}">
                <a16:creationId xmlns:a16="http://schemas.microsoft.com/office/drawing/2014/main" id="{433671D5-CC3F-DC15-60C6-2A3B6643DCC3}"/>
              </a:ext>
            </a:extLst>
          </p:cNvPr>
          <p:cNvSpPr/>
          <p:nvPr/>
        </p:nvSpPr>
        <p:spPr>
          <a:xfrm rot="5733253">
            <a:off x="741434" y="1980522"/>
            <a:ext cx="2886749" cy="3090673"/>
          </a:xfrm>
          <a:prstGeom prst="blockArc">
            <a:avLst>
              <a:gd name="adj1" fmla="val 18840889"/>
              <a:gd name="adj2" fmla="val 21580225"/>
              <a:gd name="adj3" fmla="val 5655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Block Arc 23">
            <a:extLst>
              <a:ext uri="{FF2B5EF4-FFF2-40B4-BE49-F238E27FC236}">
                <a16:creationId xmlns:a16="http://schemas.microsoft.com/office/drawing/2014/main" id="{7378B0D6-1202-6FB4-1471-2C170AA3279A}"/>
              </a:ext>
            </a:extLst>
          </p:cNvPr>
          <p:cNvSpPr/>
          <p:nvPr/>
        </p:nvSpPr>
        <p:spPr>
          <a:xfrm rot="1026976">
            <a:off x="647556" y="1825300"/>
            <a:ext cx="3148880" cy="3116832"/>
          </a:xfrm>
          <a:prstGeom prst="blockArc">
            <a:avLst>
              <a:gd name="adj1" fmla="val 18377157"/>
              <a:gd name="adj2" fmla="val 21001090"/>
              <a:gd name="adj3" fmla="val 4528"/>
            </a:avLst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FB967A26-A025-B845-C96B-14E08375E2B6}"/>
              </a:ext>
            </a:extLst>
          </p:cNvPr>
          <p:cNvSpPr/>
          <p:nvPr/>
        </p:nvSpPr>
        <p:spPr>
          <a:xfrm>
            <a:off x="200025" y="1257300"/>
            <a:ext cx="4229100" cy="4343400"/>
          </a:xfrm>
          <a:prstGeom prst="arc">
            <a:avLst>
              <a:gd name="adj1" fmla="val 16064777"/>
              <a:gd name="adj2" fmla="val 59811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3D0FADE-B430-33FA-9A6E-4E94EAE455CB}"/>
              </a:ext>
            </a:extLst>
          </p:cNvPr>
          <p:cNvSpPr/>
          <p:nvPr/>
        </p:nvSpPr>
        <p:spPr>
          <a:xfrm>
            <a:off x="3106997" y="1390508"/>
            <a:ext cx="174517" cy="160083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5F36165-75BF-2FAA-D3BC-FF92467674BA}"/>
              </a:ext>
            </a:extLst>
          </p:cNvPr>
          <p:cNvSpPr/>
          <p:nvPr/>
        </p:nvSpPr>
        <p:spPr>
          <a:xfrm>
            <a:off x="4173868" y="2387718"/>
            <a:ext cx="174517" cy="160083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57964E6-E5C5-44F9-D298-BE28EE34374E}"/>
              </a:ext>
            </a:extLst>
          </p:cNvPr>
          <p:cNvSpPr/>
          <p:nvPr/>
        </p:nvSpPr>
        <p:spPr>
          <a:xfrm>
            <a:off x="3019738" y="5350049"/>
            <a:ext cx="174517" cy="16008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22CD9F-01B5-1E06-D853-152AFC4ACDD4}"/>
              </a:ext>
            </a:extLst>
          </p:cNvPr>
          <p:cNvGrpSpPr/>
          <p:nvPr/>
        </p:nvGrpSpPr>
        <p:grpSpPr>
          <a:xfrm>
            <a:off x="5467196" y="553523"/>
            <a:ext cx="3944832" cy="753318"/>
            <a:chOff x="5467196" y="553523"/>
            <a:chExt cx="3944832" cy="75331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72990212-5084-FB39-C311-641803563DFB}"/>
                </a:ext>
              </a:extLst>
            </p:cNvPr>
            <p:cNvSpPr/>
            <p:nvPr/>
          </p:nvSpPr>
          <p:spPr>
            <a:xfrm>
              <a:off x="5482967" y="586840"/>
              <a:ext cx="3929061" cy="720000"/>
            </a:xfrm>
            <a:prstGeom prst="roundRect">
              <a:avLst>
                <a:gd name="adj" fmla="val 50000"/>
              </a:avLst>
            </a:prstGeom>
            <a:solidFill>
              <a:srgbClr val="FF030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D21DB60-EC4B-60DB-9BCB-80C621824A46}"/>
                </a:ext>
              </a:extLst>
            </p:cNvPr>
            <p:cNvSpPr txBox="1"/>
            <p:nvPr/>
          </p:nvSpPr>
          <p:spPr>
            <a:xfrm>
              <a:off x="6200775" y="623674"/>
              <a:ext cx="32112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masis MT Pro" panose="02040504050005020304" pitchFamily="18" charset="0"/>
                </a:rPr>
                <a:t>Data Scientist is the most demanded job title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364E2AD-B91E-8020-1156-756D46D7D38A}"/>
                </a:ext>
              </a:extLst>
            </p:cNvPr>
            <p:cNvSpPr/>
            <p:nvPr/>
          </p:nvSpPr>
          <p:spPr>
            <a:xfrm>
              <a:off x="5467196" y="553523"/>
              <a:ext cx="733579" cy="75331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1"/>
                  </a:solidFill>
                  <a:latin typeface="Elephant" panose="02020904090505020303" pitchFamily="18" charset="0"/>
                </a:rPr>
                <a:t>01</a:t>
              </a:r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5307C7C-1686-44FB-AC99-9A78344C6D27}"/>
              </a:ext>
            </a:extLst>
          </p:cNvPr>
          <p:cNvCxnSpPr>
            <a:cxnSpLocks/>
            <a:stCxn id="27" idx="7"/>
          </p:cNvCxnSpPr>
          <p:nvPr/>
        </p:nvCxnSpPr>
        <p:spPr>
          <a:xfrm flipV="1">
            <a:off x="3255957" y="946840"/>
            <a:ext cx="388763" cy="467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960B98C-CAEA-288A-8913-C2578DF66ED7}"/>
              </a:ext>
            </a:extLst>
          </p:cNvPr>
          <p:cNvCxnSpPr>
            <a:stCxn id="56" idx="2"/>
          </p:cNvCxnSpPr>
          <p:nvPr/>
        </p:nvCxnSpPr>
        <p:spPr>
          <a:xfrm flipH="1">
            <a:off x="3644720" y="930182"/>
            <a:ext cx="1822476" cy="16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6F66AEE-E8F2-E2F8-5A1A-53C5E61C101D}"/>
              </a:ext>
            </a:extLst>
          </p:cNvPr>
          <p:cNvCxnSpPr>
            <a:cxnSpLocks/>
            <a:stCxn id="60" idx="2"/>
          </p:cNvCxnSpPr>
          <p:nvPr/>
        </p:nvCxnSpPr>
        <p:spPr>
          <a:xfrm flipH="1">
            <a:off x="4705153" y="2583554"/>
            <a:ext cx="17036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CAB3909-928B-4E88-EF18-EE02315AF7E1}"/>
              </a:ext>
            </a:extLst>
          </p:cNvPr>
          <p:cNvCxnSpPr>
            <a:stCxn id="58" idx="2"/>
          </p:cNvCxnSpPr>
          <p:nvPr/>
        </p:nvCxnSpPr>
        <p:spPr>
          <a:xfrm flipH="1" flipV="1">
            <a:off x="4717378" y="3965231"/>
            <a:ext cx="1779890" cy="16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4068B4F-7488-25DC-378A-3A2AD4EB8B25}"/>
              </a:ext>
            </a:extLst>
          </p:cNvPr>
          <p:cNvCxnSpPr/>
          <p:nvPr/>
        </p:nvCxnSpPr>
        <p:spPr>
          <a:xfrm flipH="1">
            <a:off x="4261126" y="3965231"/>
            <a:ext cx="456252" cy="249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118AF03D-2C26-8000-9E70-B78275810F77}"/>
              </a:ext>
            </a:extLst>
          </p:cNvPr>
          <p:cNvSpPr/>
          <p:nvPr/>
        </p:nvSpPr>
        <p:spPr>
          <a:xfrm>
            <a:off x="4191057" y="4133737"/>
            <a:ext cx="174517" cy="16008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A5D7592-E434-09E4-2D36-686754B2F11D}"/>
              </a:ext>
            </a:extLst>
          </p:cNvPr>
          <p:cNvCxnSpPr>
            <a:cxnSpLocks/>
            <a:stCxn id="62" idx="3"/>
          </p:cNvCxnSpPr>
          <p:nvPr/>
        </p:nvCxnSpPr>
        <p:spPr>
          <a:xfrm flipH="1">
            <a:off x="3644720" y="5916516"/>
            <a:ext cx="2120866" cy="113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110E98E-A986-5AFC-724B-61B74D32ECF5}"/>
              </a:ext>
            </a:extLst>
          </p:cNvPr>
          <p:cNvCxnSpPr>
            <a:endCxn id="33" idx="5"/>
          </p:cNvCxnSpPr>
          <p:nvPr/>
        </p:nvCxnSpPr>
        <p:spPr>
          <a:xfrm flipH="1" flipV="1">
            <a:off x="3168698" y="5486688"/>
            <a:ext cx="476022" cy="429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74D0567-C093-CDB9-5793-FD19BB39C1B1}"/>
              </a:ext>
            </a:extLst>
          </p:cNvPr>
          <p:cNvCxnSpPr>
            <a:endCxn id="29" idx="6"/>
          </p:cNvCxnSpPr>
          <p:nvPr/>
        </p:nvCxnSpPr>
        <p:spPr>
          <a:xfrm flipH="1" flipV="1">
            <a:off x="4348385" y="2467760"/>
            <a:ext cx="356768" cy="115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16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2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750"/>
                            </p:stCondLst>
                            <p:childTnLst>
                              <p:par>
                                <p:cTn id="5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6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25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75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250"/>
                            </p:stCondLst>
                            <p:childTnLst>
                              <p:par>
                                <p:cTn id="9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9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20" grpId="0" animBg="1"/>
      <p:bldP spid="22" grpId="0" animBg="1"/>
      <p:bldP spid="24" grpId="0" animBg="1"/>
      <p:bldP spid="26" grpId="0" animBg="1"/>
      <p:bldP spid="27" grpId="0" animBg="1"/>
      <p:bldP spid="29" grpId="0" animBg="1"/>
      <p:bldP spid="33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8943C-431F-3CB9-6CAC-0789BB612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AD210CF5-BA39-4225-6557-34AB40264D88}"/>
              </a:ext>
            </a:extLst>
          </p:cNvPr>
          <p:cNvGrpSpPr/>
          <p:nvPr/>
        </p:nvGrpSpPr>
        <p:grpSpPr>
          <a:xfrm>
            <a:off x="5658156" y="5273519"/>
            <a:ext cx="3929061" cy="753318"/>
            <a:chOff x="5658156" y="5273519"/>
            <a:chExt cx="3929061" cy="75331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CF7D57B-9FB8-BFB7-12A3-EA0E161E9450}"/>
                </a:ext>
              </a:extLst>
            </p:cNvPr>
            <p:cNvGrpSpPr/>
            <p:nvPr/>
          </p:nvGrpSpPr>
          <p:grpSpPr>
            <a:xfrm>
              <a:off x="5658156" y="5273519"/>
              <a:ext cx="3929061" cy="753318"/>
              <a:chOff x="5658156" y="5273519"/>
              <a:chExt cx="3929061" cy="753318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587E17DF-887D-6E45-F6C3-2F16C57CFB15}"/>
                  </a:ext>
                </a:extLst>
              </p:cNvPr>
              <p:cNvSpPr/>
              <p:nvPr/>
            </p:nvSpPr>
            <p:spPr>
              <a:xfrm>
                <a:off x="5658156" y="5290178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70D9FF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730A5F89-9F6B-8006-9859-55089C24E2CC}"/>
                  </a:ext>
                </a:extLst>
              </p:cNvPr>
              <p:cNvSpPr/>
              <p:nvPr/>
            </p:nvSpPr>
            <p:spPr>
              <a:xfrm>
                <a:off x="5658156" y="5273519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04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3AD6D34-6366-3902-9E12-43E42881A93E}"/>
                </a:ext>
              </a:extLst>
            </p:cNvPr>
            <p:cNvSpPr txBox="1"/>
            <p:nvPr/>
          </p:nvSpPr>
          <p:spPr>
            <a:xfrm>
              <a:off x="6353530" y="5323496"/>
              <a:ext cx="32209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AWS cloud skills growing — required in 24% of jobs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95C09-C18A-9231-EB0B-AE42213B0734}"/>
              </a:ext>
            </a:extLst>
          </p:cNvPr>
          <p:cNvGrpSpPr/>
          <p:nvPr/>
        </p:nvGrpSpPr>
        <p:grpSpPr>
          <a:xfrm>
            <a:off x="6497268" y="3605231"/>
            <a:ext cx="4072078" cy="753318"/>
            <a:chOff x="6497268" y="3605231"/>
            <a:chExt cx="4072078" cy="75331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1DB2CED-A208-A0A7-5F29-E2927A8C7625}"/>
                </a:ext>
              </a:extLst>
            </p:cNvPr>
            <p:cNvGrpSpPr/>
            <p:nvPr/>
          </p:nvGrpSpPr>
          <p:grpSpPr>
            <a:xfrm>
              <a:off x="6497268" y="3605231"/>
              <a:ext cx="3929061" cy="753318"/>
              <a:chOff x="6497268" y="3605231"/>
              <a:chExt cx="3929061" cy="753318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A6BAB096-1768-2072-5DAF-9C6BC97047F4}"/>
                  </a:ext>
                </a:extLst>
              </p:cNvPr>
              <p:cNvSpPr/>
              <p:nvPr/>
            </p:nvSpPr>
            <p:spPr>
              <a:xfrm>
                <a:off x="6497268" y="3605231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1D6E2A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6C46044C-DBEA-A363-193F-EA55D8B9C486}"/>
                  </a:ext>
                </a:extLst>
              </p:cNvPr>
              <p:cNvSpPr/>
              <p:nvPr/>
            </p:nvSpPr>
            <p:spPr>
              <a:xfrm>
                <a:off x="6497268" y="3605231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03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17E0363-76F7-F303-C462-A9B8089C4FBF}"/>
                </a:ext>
              </a:extLst>
            </p:cNvPr>
            <p:cNvSpPr txBox="1"/>
            <p:nvPr/>
          </p:nvSpPr>
          <p:spPr>
            <a:xfrm>
              <a:off x="7230847" y="3642065"/>
              <a:ext cx="3338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masis MT Pro" panose="02040504050005020304" pitchFamily="18" charset="0"/>
                </a:rPr>
                <a:t>Excel still relevant — required in 51% of jobs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422D6B7-DF52-47ED-5F2C-EE85ECB51969}"/>
              </a:ext>
            </a:extLst>
          </p:cNvPr>
          <p:cNvGrpSpPr/>
          <p:nvPr/>
        </p:nvGrpSpPr>
        <p:grpSpPr>
          <a:xfrm>
            <a:off x="6408823" y="2206895"/>
            <a:ext cx="3960604" cy="753318"/>
            <a:chOff x="6408823" y="2206895"/>
            <a:chExt cx="3960604" cy="75331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C209245-C6B8-4636-BCAA-8F6E36AB2B0E}"/>
                </a:ext>
              </a:extLst>
            </p:cNvPr>
            <p:cNvGrpSpPr/>
            <p:nvPr/>
          </p:nvGrpSpPr>
          <p:grpSpPr>
            <a:xfrm>
              <a:off x="6408823" y="2206895"/>
              <a:ext cx="3944832" cy="753318"/>
              <a:chOff x="6408823" y="2206895"/>
              <a:chExt cx="3944832" cy="753318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BDA1EDA8-DE5D-ACAA-5E55-93910F492665}"/>
                  </a:ext>
                </a:extLst>
              </p:cNvPr>
              <p:cNvSpPr/>
              <p:nvPr/>
            </p:nvSpPr>
            <p:spPr>
              <a:xfrm>
                <a:off x="6424594" y="2223554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FFFF0C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A10C769D-B569-CDE1-A616-3043B142E3B1}"/>
                  </a:ext>
                </a:extLst>
              </p:cNvPr>
              <p:cNvSpPr/>
              <p:nvPr/>
            </p:nvSpPr>
            <p:spPr>
              <a:xfrm>
                <a:off x="6408823" y="2206895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02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1AE2532-C192-9F8B-8B33-A38AFE73EB5A}"/>
                </a:ext>
              </a:extLst>
            </p:cNvPr>
            <p:cNvSpPr txBox="1"/>
            <p:nvPr/>
          </p:nvSpPr>
          <p:spPr>
            <a:xfrm>
              <a:off x="7106867" y="2239336"/>
              <a:ext cx="32625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SQL follows at 52% - essential across all titles</a:t>
              </a: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5B0BF3B2-FB88-E8F8-B22E-15A136AF5BF7}"/>
              </a:ext>
            </a:extLst>
          </p:cNvPr>
          <p:cNvSpPr/>
          <p:nvPr/>
        </p:nvSpPr>
        <p:spPr>
          <a:xfrm>
            <a:off x="781044" y="1972043"/>
            <a:ext cx="2863676" cy="282334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Elephant" panose="02020904090505020303" pitchFamily="18" charset="0"/>
              </a:rPr>
              <a:t>Master These Skills to Get Hired</a:t>
            </a:r>
          </a:p>
        </p:txBody>
      </p:sp>
      <p:sp>
        <p:nvSpPr>
          <p:cNvPr id="10" name="Block Arc 9">
            <a:extLst>
              <a:ext uri="{FF2B5EF4-FFF2-40B4-BE49-F238E27FC236}">
                <a16:creationId xmlns:a16="http://schemas.microsoft.com/office/drawing/2014/main" id="{B967F4CE-D5DF-F541-D497-1BE03EB7AF07}"/>
              </a:ext>
            </a:extLst>
          </p:cNvPr>
          <p:cNvSpPr/>
          <p:nvPr/>
        </p:nvSpPr>
        <p:spPr>
          <a:xfrm rot="19894018">
            <a:off x="635532" y="1825300"/>
            <a:ext cx="3148880" cy="3116832"/>
          </a:xfrm>
          <a:prstGeom prst="blockArc">
            <a:avLst>
              <a:gd name="adj1" fmla="val 18138812"/>
              <a:gd name="adj2" fmla="val 21125266"/>
              <a:gd name="adj3" fmla="val 5079"/>
            </a:avLst>
          </a:prstGeo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Block Arc 19">
            <a:extLst>
              <a:ext uri="{FF2B5EF4-FFF2-40B4-BE49-F238E27FC236}">
                <a16:creationId xmlns:a16="http://schemas.microsoft.com/office/drawing/2014/main" id="{2E5968B6-B483-EF52-DC54-06CE50E1428B}"/>
              </a:ext>
            </a:extLst>
          </p:cNvPr>
          <p:cNvSpPr/>
          <p:nvPr/>
        </p:nvSpPr>
        <p:spPr>
          <a:xfrm rot="3091017">
            <a:off x="824721" y="1937681"/>
            <a:ext cx="2932848" cy="3090673"/>
          </a:xfrm>
          <a:prstGeom prst="blockArc">
            <a:avLst>
              <a:gd name="adj1" fmla="val 18729798"/>
              <a:gd name="adj2" fmla="val 166116"/>
              <a:gd name="adj3" fmla="val 5306"/>
            </a:avLst>
          </a:prstGeom>
          <a:solidFill>
            <a:schemeClr val="accent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Block Arc 21">
            <a:extLst>
              <a:ext uri="{FF2B5EF4-FFF2-40B4-BE49-F238E27FC236}">
                <a16:creationId xmlns:a16="http://schemas.microsoft.com/office/drawing/2014/main" id="{444344BC-9EAC-8E7C-BF4B-B9198AB71B24}"/>
              </a:ext>
            </a:extLst>
          </p:cNvPr>
          <p:cNvSpPr/>
          <p:nvPr/>
        </p:nvSpPr>
        <p:spPr>
          <a:xfrm rot="5733253">
            <a:off x="741434" y="1980522"/>
            <a:ext cx="2886749" cy="3090673"/>
          </a:xfrm>
          <a:prstGeom prst="blockArc">
            <a:avLst>
              <a:gd name="adj1" fmla="val 18840889"/>
              <a:gd name="adj2" fmla="val 21580225"/>
              <a:gd name="adj3" fmla="val 5655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Block Arc 23">
            <a:extLst>
              <a:ext uri="{FF2B5EF4-FFF2-40B4-BE49-F238E27FC236}">
                <a16:creationId xmlns:a16="http://schemas.microsoft.com/office/drawing/2014/main" id="{C62C4D52-8BEB-022A-49C5-EA8320C24E51}"/>
              </a:ext>
            </a:extLst>
          </p:cNvPr>
          <p:cNvSpPr/>
          <p:nvPr/>
        </p:nvSpPr>
        <p:spPr>
          <a:xfrm rot="1026976">
            <a:off x="647556" y="1825300"/>
            <a:ext cx="3148880" cy="3116832"/>
          </a:xfrm>
          <a:prstGeom prst="blockArc">
            <a:avLst>
              <a:gd name="adj1" fmla="val 18377157"/>
              <a:gd name="adj2" fmla="val 21001090"/>
              <a:gd name="adj3" fmla="val 4528"/>
            </a:avLst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C480EC7B-A1FD-417E-41B9-9572AA100F86}"/>
              </a:ext>
            </a:extLst>
          </p:cNvPr>
          <p:cNvSpPr/>
          <p:nvPr/>
        </p:nvSpPr>
        <p:spPr>
          <a:xfrm>
            <a:off x="200025" y="1257300"/>
            <a:ext cx="4229100" cy="4343400"/>
          </a:xfrm>
          <a:prstGeom prst="arc">
            <a:avLst>
              <a:gd name="adj1" fmla="val 16064777"/>
              <a:gd name="adj2" fmla="val 59811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D0976EB-4F74-939F-127D-E4DD8CB895D0}"/>
              </a:ext>
            </a:extLst>
          </p:cNvPr>
          <p:cNvSpPr/>
          <p:nvPr/>
        </p:nvSpPr>
        <p:spPr>
          <a:xfrm>
            <a:off x="3106997" y="1390508"/>
            <a:ext cx="174517" cy="160083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B1D26BA-F3E9-9D4B-0147-EE5BFF990E64}"/>
              </a:ext>
            </a:extLst>
          </p:cNvPr>
          <p:cNvSpPr/>
          <p:nvPr/>
        </p:nvSpPr>
        <p:spPr>
          <a:xfrm>
            <a:off x="4173868" y="2387718"/>
            <a:ext cx="174517" cy="160083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AD757DF-C6C0-E080-35EE-E9FBAC546AAA}"/>
              </a:ext>
            </a:extLst>
          </p:cNvPr>
          <p:cNvSpPr/>
          <p:nvPr/>
        </p:nvSpPr>
        <p:spPr>
          <a:xfrm>
            <a:off x="3019738" y="5350049"/>
            <a:ext cx="174517" cy="16008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68D5F45-1F01-956D-1630-E81706635A11}"/>
              </a:ext>
            </a:extLst>
          </p:cNvPr>
          <p:cNvGrpSpPr/>
          <p:nvPr/>
        </p:nvGrpSpPr>
        <p:grpSpPr>
          <a:xfrm>
            <a:off x="5467196" y="553523"/>
            <a:ext cx="3944832" cy="753318"/>
            <a:chOff x="5467196" y="553523"/>
            <a:chExt cx="3944832" cy="75331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726522D5-90A0-4271-5B77-643A1CD1D3B2}"/>
                </a:ext>
              </a:extLst>
            </p:cNvPr>
            <p:cNvSpPr/>
            <p:nvPr/>
          </p:nvSpPr>
          <p:spPr>
            <a:xfrm>
              <a:off x="5482967" y="586840"/>
              <a:ext cx="3929061" cy="720000"/>
            </a:xfrm>
            <a:prstGeom prst="roundRect">
              <a:avLst>
                <a:gd name="adj" fmla="val 50000"/>
              </a:avLst>
            </a:prstGeom>
            <a:solidFill>
              <a:srgbClr val="FF030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4A0EB3E-5D95-CBCA-2CB8-F7BF3EC66604}"/>
                </a:ext>
              </a:extLst>
            </p:cNvPr>
            <p:cNvSpPr txBox="1"/>
            <p:nvPr/>
          </p:nvSpPr>
          <p:spPr>
            <a:xfrm>
              <a:off x="6200775" y="623674"/>
              <a:ext cx="32112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masis MT Pro" panose="02040504050005020304" pitchFamily="18" charset="0"/>
                </a:rPr>
                <a:t>Python required in 53% of all DS job postings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9300DD8-4C70-434F-9F78-20AD926FCAE2}"/>
                </a:ext>
              </a:extLst>
            </p:cNvPr>
            <p:cNvSpPr/>
            <p:nvPr/>
          </p:nvSpPr>
          <p:spPr>
            <a:xfrm>
              <a:off x="5467196" y="553523"/>
              <a:ext cx="733579" cy="75331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1"/>
                  </a:solidFill>
                  <a:latin typeface="Elephant" panose="02020904090505020303" pitchFamily="18" charset="0"/>
                </a:rPr>
                <a:t>01</a:t>
              </a:r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DC9891A-F1F7-383F-8B96-1F322220BDEB}"/>
              </a:ext>
            </a:extLst>
          </p:cNvPr>
          <p:cNvCxnSpPr>
            <a:cxnSpLocks/>
            <a:stCxn id="27" idx="7"/>
          </p:cNvCxnSpPr>
          <p:nvPr/>
        </p:nvCxnSpPr>
        <p:spPr>
          <a:xfrm flipV="1">
            <a:off x="3255957" y="946840"/>
            <a:ext cx="388763" cy="467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9CDF94E-BAD3-8C6B-1CA4-012A4E97AC88}"/>
              </a:ext>
            </a:extLst>
          </p:cNvPr>
          <p:cNvCxnSpPr>
            <a:stCxn id="56" idx="2"/>
          </p:cNvCxnSpPr>
          <p:nvPr/>
        </p:nvCxnSpPr>
        <p:spPr>
          <a:xfrm flipH="1">
            <a:off x="3644720" y="930182"/>
            <a:ext cx="1822476" cy="16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AD837E6-7F01-B4AA-8E9B-BB534689100A}"/>
              </a:ext>
            </a:extLst>
          </p:cNvPr>
          <p:cNvCxnSpPr>
            <a:cxnSpLocks/>
            <a:stCxn id="60" idx="2"/>
          </p:cNvCxnSpPr>
          <p:nvPr/>
        </p:nvCxnSpPr>
        <p:spPr>
          <a:xfrm flipH="1">
            <a:off x="4705153" y="2583554"/>
            <a:ext cx="17036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0186953-B36A-E072-7E28-81E93137B1DC}"/>
              </a:ext>
            </a:extLst>
          </p:cNvPr>
          <p:cNvCxnSpPr>
            <a:stCxn id="58" idx="2"/>
          </p:cNvCxnSpPr>
          <p:nvPr/>
        </p:nvCxnSpPr>
        <p:spPr>
          <a:xfrm flipH="1" flipV="1">
            <a:off x="4717378" y="3965231"/>
            <a:ext cx="1779890" cy="16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FB9007B-6963-8CD7-1C1C-966C4326BEFE}"/>
              </a:ext>
            </a:extLst>
          </p:cNvPr>
          <p:cNvCxnSpPr/>
          <p:nvPr/>
        </p:nvCxnSpPr>
        <p:spPr>
          <a:xfrm flipH="1">
            <a:off x="4261126" y="3965231"/>
            <a:ext cx="456252" cy="249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7538A5C-31CE-86B8-575B-511A979D2EF3}"/>
              </a:ext>
            </a:extLst>
          </p:cNvPr>
          <p:cNvSpPr/>
          <p:nvPr/>
        </p:nvSpPr>
        <p:spPr>
          <a:xfrm>
            <a:off x="4191057" y="4133737"/>
            <a:ext cx="174517" cy="16008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14970C0-4F07-ECE6-D162-E6DFCD286816}"/>
              </a:ext>
            </a:extLst>
          </p:cNvPr>
          <p:cNvCxnSpPr>
            <a:cxnSpLocks/>
            <a:stCxn id="62" idx="3"/>
          </p:cNvCxnSpPr>
          <p:nvPr/>
        </p:nvCxnSpPr>
        <p:spPr>
          <a:xfrm flipH="1">
            <a:off x="3644720" y="5916516"/>
            <a:ext cx="2120866" cy="113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87E7154-1ED9-F688-2AE8-4CA932F726AC}"/>
              </a:ext>
            </a:extLst>
          </p:cNvPr>
          <p:cNvCxnSpPr>
            <a:endCxn id="33" idx="5"/>
          </p:cNvCxnSpPr>
          <p:nvPr/>
        </p:nvCxnSpPr>
        <p:spPr>
          <a:xfrm flipH="1" flipV="1">
            <a:off x="3168698" y="5486688"/>
            <a:ext cx="476022" cy="429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306908D-8C5C-8167-6316-C6274C914772}"/>
              </a:ext>
            </a:extLst>
          </p:cNvPr>
          <p:cNvCxnSpPr>
            <a:endCxn id="29" idx="6"/>
          </p:cNvCxnSpPr>
          <p:nvPr/>
        </p:nvCxnSpPr>
        <p:spPr>
          <a:xfrm flipH="1" flipV="1">
            <a:off x="4348385" y="2467760"/>
            <a:ext cx="356768" cy="115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26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2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750"/>
                            </p:stCondLst>
                            <p:childTnLst>
                              <p:par>
                                <p:cTn id="5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6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25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75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250"/>
                            </p:stCondLst>
                            <p:childTnLst>
                              <p:par>
                                <p:cTn id="9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9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20" grpId="0" animBg="1"/>
      <p:bldP spid="22" grpId="0" animBg="1"/>
      <p:bldP spid="24" grpId="0" animBg="1"/>
      <p:bldP spid="26" grpId="0" animBg="1"/>
      <p:bldP spid="27" grpId="0" animBg="1"/>
      <p:bldP spid="29" grpId="0" animBg="1"/>
      <p:bldP spid="33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8C094D-5C3D-E603-52B9-591119D3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B2989FCA-2282-44EF-5287-FA1045088B2C}"/>
              </a:ext>
            </a:extLst>
          </p:cNvPr>
          <p:cNvGrpSpPr/>
          <p:nvPr/>
        </p:nvGrpSpPr>
        <p:grpSpPr>
          <a:xfrm>
            <a:off x="5658156" y="5273519"/>
            <a:ext cx="3929061" cy="753318"/>
            <a:chOff x="5658156" y="5273519"/>
            <a:chExt cx="3929061" cy="75331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5248958-90FB-A599-843A-4AE2A6987BE0}"/>
                </a:ext>
              </a:extLst>
            </p:cNvPr>
            <p:cNvGrpSpPr/>
            <p:nvPr/>
          </p:nvGrpSpPr>
          <p:grpSpPr>
            <a:xfrm>
              <a:off x="5658156" y="5273519"/>
              <a:ext cx="3929061" cy="753318"/>
              <a:chOff x="5658156" y="5273519"/>
              <a:chExt cx="3929061" cy="753318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67C489C9-7AEE-0620-15C0-67C427B6E786}"/>
                  </a:ext>
                </a:extLst>
              </p:cNvPr>
              <p:cNvSpPr/>
              <p:nvPr/>
            </p:nvSpPr>
            <p:spPr>
              <a:xfrm>
                <a:off x="5658156" y="5290178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70D9FF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70079216-50E0-A772-0F5B-3CA9FF91D58C}"/>
                  </a:ext>
                </a:extLst>
              </p:cNvPr>
              <p:cNvSpPr/>
              <p:nvPr/>
            </p:nvSpPr>
            <p:spPr>
              <a:xfrm>
                <a:off x="5658156" y="5273519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04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A0BEA3D-DE7A-D8F3-EDA5-66DC38003D5C}"/>
                </a:ext>
              </a:extLst>
            </p:cNvPr>
            <p:cNvSpPr txBox="1"/>
            <p:nvPr/>
          </p:nvSpPr>
          <p:spPr>
            <a:xfrm>
              <a:off x="6353530" y="5323496"/>
              <a:ext cx="32209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Upskilling can compensate for lack of higher degree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A0AB67-0882-EF87-7F84-178F1DF7CFA2}"/>
              </a:ext>
            </a:extLst>
          </p:cNvPr>
          <p:cNvGrpSpPr/>
          <p:nvPr/>
        </p:nvGrpSpPr>
        <p:grpSpPr>
          <a:xfrm>
            <a:off x="6497268" y="3605231"/>
            <a:ext cx="4072078" cy="753318"/>
            <a:chOff x="6497268" y="3605231"/>
            <a:chExt cx="4072078" cy="75331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B42E145-765C-5B00-29C3-F21822E3BC01}"/>
                </a:ext>
              </a:extLst>
            </p:cNvPr>
            <p:cNvGrpSpPr/>
            <p:nvPr/>
          </p:nvGrpSpPr>
          <p:grpSpPr>
            <a:xfrm>
              <a:off x="6497268" y="3605231"/>
              <a:ext cx="3929061" cy="753318"/>
              <a:chOff x="6497268" y="3605231"/>
              <a:chExt cx="3929061" cy="753318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928D682C-E775-E96E-20C7-1214A784D452}"/>
                  </a:ext>
                </a:extLst>
              </p:cNvPr>
              <p:cNvSpPr/>
              <p:nvPr/>
            </p:nvSpPr>
            <p:spPr>
              <a:xfrm>
                <a:off x="6497268" y="3605231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1D6E2A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03EFED30-6F1F-D37B-97BF-CA893ABB3694}"/>
                  </a:ext>
                </a:extLst>
              </p:cNvPr>
              <p:cNvSpPr/>
              <p:nvPr/>
            </p:nvSpPr>
            <p:spPr>
              <a:xfrm>
                <a:off x="6497268" y="3605231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03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C98C5E-A8C6-1F94-0796-108B5296F8BE}"/>
                </a:ext>
              </a:extLst>
            </p:cNvPr>
            <p:cNvSpPr txBox="1"/>
            <p:nvPr/>
          </p:nvSpPr>
          <p:spPr>
            <a:xfrm>
              <a:off x="7230847" y="3642065"/>
              <a:ext cx="3338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masis MT Pro" panose="02040504050005020304" pitchFamily="18" charset="0"/>
                </a:rPr>
                <a:t>Most jobs don't mandate specific degree - skills matter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619B04E-ED88-97C7-DEF9-B7B17A88B7A1}"/>
              </a:ext>
            </a:extLst>
          </p:cNvPr>
          <p:cNvGrpSpPr/>
          <p:nvPr/>
        </p:nvGrpSpPr>
        <p:grpSpPr>
          <a:xfrm>
            <a:off x="6408823" y="2206895"/>
            <a:ext cx="3960604" cy="753318"/>
            <a:chOff x="6408823" y="2206895"/>
            <a:chExt cx="3960604" cy="75331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C28F1A3-E343-4F46-D0CC-1CB5BB4D5BD2}"/>
                </a:ext>
              </a:extLst>
            </p:cNvPr>
            <p:cNvGrpSpPr/>
            <p:nvPr/>
          </p:nvGrpSpPr>
          <p:grpSpPr>
            <a:xfrm>
              <a:off x="6408823" y="2206895"/>
              <a:ext cx="3944832" cy="753318"/>
              <a:chOff x="6408823" y="2206895"/>
              <a:chExt cx="3944832" cy="753318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38F0E78A-34C6-DCD9-4DD9-AC742E6B372B}"/>
                  </a:ext>
                </a:extLst>
              </p:cNvPr>
              <p:cNvSpPr/>
              <p:nvPr/>
            </p:nvSpPr>
            <p:spPr>
              <a:xfrm>
                <a:off x="6424594" y="2223554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FFFF0C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C4B354DA-9C06-CDB6-4A5E-6D5431B7098C}"/>
                  </a:ext>
                </a:extLst>
              </p:cNvPr>
              <p:cNvSpPr/>
              <p:nvPr/>
            </p:nvSpPr>
            <p:spPr>
              <a:xfrm>
                <a:off x="6408823" y="2206895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02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53F6DBE-FFD4-2F2B-981B-30F9D5BC1763}"/>
                </a:ext>
              </a:extLst>
            </p:cNvPr>
            <p:cNvSpPr txBox="1"/>
            <p:nvPr/>
          </p:nvSpPr>
          <p:spPr>
            <a:xfrm>
              <a:off x="7106867" y="2239336"/>
              <a:ext cx="32625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Masters degree preferred over unspecified education</a:t>
              </a: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78DA6E4C-A8FF-99AE-2002-CDD5AF6337DE}"/>
              </a:ext>
            </a:extLst>
          </p:cNvPr>
          <p:cNvSpPr/>
          <p:nvPr/>
        </p:nvSpPr>
        <p:spPr>
          <a:xfrm>
            <a:off x="781044" y="1972043"/>
            <a:ext cx="2863676" cy="282334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Elephant" panose="02020904090505020303" pitchFamily="18" charset="0"/>
              </a:rPr>
              <a:t>Does Your Degree Decide Your Salary?</a:t>
            </a:r>
          </a:p>
        </p:txBody>
      </p:sp>
      <p:sp>
        <p:nvSpPr>
          <p:cNvPr id="10" name="Block Arc 9">
            <a:extLst>
              <a:ext uri="{FF2B5EF4-FFF2-40B4-BE49-F238E27FC236}">
                <a16:creationId xmlns:a16="http://schemas.microsoft.com/office/drawing/2014/main" id="{6A732460-A1EF-4AD1-C153-C07FE40C94A7}"/>
              </a:ext>
            </a:extLst>
          </p:cNvPr>
          <p:cNvSpPr/>
          <p:nvPr/>
        </p:nvSpPr>
        <p:spPr>
          <a:xfrm rot="19894018">
            <a:off x="635532" y="1825300"/>
            <a:ext cx="3148880" cy="3116832"/>
          </a:xfrm>
          <a:prstGeom prst="blockArc">
            <a:avLst>
              <a:gd name="adj1" fmla="val 18138812"/>
              <a:gd name="adj2" fmla="val 21125266"/>
              <a:gd name="adj3" fmla="val 5079"/>
            </a:avLst>
          </a:prstGeo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Block Arc 19">
            <a:extLst>
              <a:ext uri="{FF2B5EF4-FFF2-40B4-BE49-F238E27FC236}">
                <a16:creationId xmlns:a16="http://schemas.microsoft.com/office/drawing/2014/main" id="{F2552892-0F58-8C1C-D0C8-B580748D8C49}"/>
              </a:ext>
            </a:extLst>
          </p:cNvPr>
          <p:cNvSpPr/>
          <p:nvPr/>
        </p:nvSpPr>
        <p:spPr>
          <a:xfrm rot="3091017">
            <a:off x="824721" y="1937681"/>
            <a:ext cx="2932848" cy="3090673"/>
          </a:xfrm>
          <a:prstGeom prst="blockArc">
            <a:avLst>
              <a:gd name="adj1" fmla="val 18729798"/>
              <a:gd name="adj2" fmla="val 166116"/>
              <a:gd name="adj3" fmla="val 5306"/>
            </a:avLst>
          </a:prstGeom>
          <a:solidFill>
            <a:schemeClr val="accent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Block Arc 21">
            <a:extLst>
              <a:ext uri="{FF2B5EF4-FFF2-40B4-BE49-F238E27FC236}">
                <a16:creationId xmlns:a16="http://schemas.microsoft.com/office/drawing/2014/main" id="{4BD23FCC-1E15-3108-BEC9-F98EDC6D884E}"/>
              </a:ext>
            </a:extLst>
          </p:cNvPr>
          <p:cNvSpPr/>
          <p:nvPr/>
        </p:nvSpPr>
        <p:spPr>
          <a:xfrm rot="5733253">
            <a:off x="741434" y="1980522"/>
            <a:ext cx="2886749" cy="3090673"/>
          </a:xfrm>
          <a:prstGeom prst="blockArc">
            <a:avLst>
              <a:gd name="adj1" fmla="val 18840889"/>
              <a:gd name="adj2" fmla="val 21580225"/>
              <a:gd name="adj3" fmla="val 5655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Block Arc 23">
            <a:extLst>
              <a:ext uri="{FF2B5EF4-FFF2-40B4-BE49-F238E27FC236}">
                <a16:creationId xmlns:a16="http://schemas.microsoft.com/office/drawing/2014/main" id="{DAE719B1-AF76-11AE-473E-FF44D484029A}"/>
              </a:ext>
            </a:extLst>
          </p:cNvPr>
          <p:cNvSpPr/>
          <p:nvPr/>
        </p:nvSpPr>
        <p:spPr>
          <a:xfrm rot="1026976">
            <a:off x="647556" y="1825300"/>
            <a:ext cx="3148880" cy="3116832"/>
          </a:xfrm>
          <a:prstGeom prst="blockArc">
            <a:avLst>
              <a:gd name="adj1" fmla="val 18377157"/>
              <a:gd name="adj2" fmla="val 21001090"/>
              <a:gd name="adj3" fmla="val 4528"/>
            </a:avLst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A3DD8496-68D8-55A0-F32C-0F655BA3D2C7}"/>
              </a:ext>
            </a:extLst>
          </p:cNvPr>
          <p:cNvSpPr/>
          <p:nvPr/>
        </p:nvSpPr>
        <p:spPr>
          <a:xfrm>
            <a:off x="200025" y="1257300"/>
            <a:ext cx="4229100" cy="4343400"/>
          </a:xfrm>
          <a:prstGeom prst="arc">
            <a:avLst>
              <a:gd name="adj1" fmla="val 16064777"/>
              <a:gd name="adj2" fmla="val 59811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BC359F3-0D47-7EC9-E555-20FACEBEAB96}"/>
              </a:ext>
            </a:extLst>
          </p:cNvPr>
          <p:cNvSpPr/>
          <p:nvPr/>
        </p:nvSpPr>
        <p:spPr>
          <a:xfrm>
            <a:off x="3106997" y="1390508"/>
            <a:ext cx="174517" cy="160083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4BBDD04-9D4D-9453-60B8-E1992DE6E612}"/>
              </a:ext>
            </a:extLst>
          </p:cNvPr>
          <p:cNvSpPr/>
          <p:nvPr/>
        </p:nvSpPr>
        <p:spPr>
          <a:xfrm>
            <a:off x="4173868" y="2387718"/>
            <a:ext cx="174517" cy="160083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BC54040-42AF-45AB-7C6A-7216166F56B9}"/>
              </a:ext>
            </a:extLst>
          </p:cNvPr>
          <p:cNvSpPr/>
          <p:nvPr/>
        </p:nvSpPr>
        <p:spPr>
          <a:xfrm>
            <a:off x="3019738" y="5350049"/>
            <a:ext cx="174517" cy="16008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D756916-05EC-E600-137F-BF4C6030C716}"/>
              </a:ext>
            </a:extLst>
          </p:cNvPr>
          <p:cNvGrpSpPr/>
          <p:nvPr/>
        </p:nvGrpSpPr>
        <p:grpSpPr>
          <a:xfrm>
            <a:off x="5467196" y="553523"/>
            <a:ext cx="3944832" cy="753318"/>
            <a:chOff x="5467196" y="553523"/>
            <a:chExt cx="3944832" cy="75331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709639AB-DC25-8BC0-DB61-B673F93BAC67}"/>
                </a:ext>
              </a:extLst>
            </p:cNvPr>
            <p:cNvSpPr/>
            <p:nvPr/>
          </p:nvSpPr>
          <p:spPr>
            <a:xfrm>
              <a:off x="5482967" y="586840"/>
              <a:ext cx="3929061" cy="720000"/>
            </a:xfrm>
            <a:prstGeom prst="roundRect">
              <a:avLst>
                <a:gd name="adj" fmla="val 50000"/>
              </a:avLst>
            </a:prstGeom>
            <a:solidFill>
              <a:srgbClr val="FF030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FD8348C-30F3-7526-47E0-081D10999738}"/>
                </a:ext>
              </a:extLst>
            </p:cNvPr>
            <p:cNvSpPr txBox="1"/>
            <p:nvPr/>
          </p:nvSpPr>
          <p:spPr>
            <a:xfrm>
              <a:off x="6200775" y="623674"/>
              <a:ext cx="32112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masis MT Pro" panose="02040504050005020304" pitchFamily="18" charset="0"/>
                </a:rPr>
                <a:t>PhD holders command the highest average salary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835B1D9-280F-4E2A-1E43-D97A4809CA18}"/>
                </a:ext>
              </a:extLst>
            </p:cNvPr>
            <p:cNvSpPr/>
            <p:nvPr/>
          </p:nvSpPr>
          <p:spPr>
            <a:xfrm>
              <a:off x="5467196" y="553523"/>
              <a:ext cx="733579" cy="75331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1"/>
                  </a:solidFill>
                  <a:latin typeface="Elephant" panose="02020904090505020303" pitchFamily="18" charset="0"/>
                </a:rPr>
                <a:t>01</a:t>
              </a:r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9F120C9-B696-A672-65B5-24542A244D33}"/>
              </a:ext>
            </a:extLst>
          </p:cNvPr>
          <p:cNvCxnSpPr>
            <a:cxnSpLocks/>
            <a:stCxn id="27" idx="7"/>
          </p:cNvCxnSpPr>
          <p:nvPr/>
        </p:nvCxnSpPr>
        <p:spPr>
          <a:xfrm flipV="1">
            <a:off x="3255957" y="946840"/>
            <a:ext cx="388763" cy="467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2091272-E06F-14B5-1B8C-A9DAC91E839F}"/>
              </a:ext>
            </a:extLst>
          </p:cNvPr>
          <p:cNvCxnSpPr>
            <a:stCxn id="56" idx="2"/>
          </p:cNvCxnSpPr>
          <p:nvPr/>
        </p:nvCxnSpPr>
        <p:spPr>
          <a:xfrm flipH="1">
            <a:off x="3644720" y="930182"/>
            <a:ext cx="1822476" cy="16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91C7527-6C89-0F92-EC70-F1AD5193ED69}"/>
              </a:ext>
            </a:extLst>
          </p:cNvPr>
          <p:cNvCxnSpPr>
            <a:cxnSpLocks/>
            <a:stCxn id="60" idx="2"/>
          </p:cNvCxnSpPr>
          <p:nvPr/>
        </p:nvCxnSpPr>
        <p:spPr>
          <a:xfrm flipH="1">
            <a:off x="4705153" y="2583554"/>
            <a:ext cx="17036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E1291BC-746D-6B98-85A2-3BBB006C6048}"/>
              </a:ext>
            </a:extLst>
          </p:cNvPr>
          <p:cNvCxnSpPr>
            <a:stCxn id="58" idx="2"/>
          </p:cNvCxnSpPr>
          <p:nvPr/>
        </p:nvCxnSpPr>
        <p:spPr>
          <a:xfrm flipH="1" flipV="1">
            <a:off x="4717378" y="3965231"/>
            <a:ext cx="1779890" cy="16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5AF5FA6-BE57-45C7-AABD-A0C2393292AF}"/>
              </a:ext>
            </a:extLst>
          </p:cNvPr>
          <p:cNvCxnSpPr/>
          <p:nvPr/>
        </p:nvCxnSpPr>
        <p:spPr>
          <a:xfrm flipH="1">
            <a:off x="4261126" y="3965231"/>
            <a:ext cx="456252" cy="249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35CFC16B-5F51-19AD-31E0-DE4B48097FCE}"/>
              </a:ext>
            </a:extLst>
          </p:cNvPr>
          <p:cNvSpPr/>
          <p:nvPr/>
        </p:nvSpPr>
        <p:spPr>
          <a:xfrm>
            <a:off x="4191057" y="4133737"/>
            <a:ext cx="174517" cy="16008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ED8094A-82F3-8F12-270A-74B8834589C4}"/>
              </a:ext>
            </a:extLst>
          </p:cNvPr>
          <p:cNvCxnSpPr>
            <a:cxnSpLocks/>
            <a:stCxn id="62" idx="3"/>
          </p:cNvCxnSpPr>
          <p:nvPr/>
        </p:nvCxnSpPr>
        <p:spPr>
          <a:xfrm flipH="1">
            <a:off x="3644720" y="5916516"/>
            <a:ext cx="2120866" cy="113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78064DE-E4CC-A06C-4EF9-BA1A8CAD1CFB}"/>
              </a:ext>
            </a:extLst>
          </p:cNvPr>
          <p:cNvCxnSpPr>
            <a:endCxn id="33" idx="5"/>
          </p:cNvCxnSpPr>
          <p:nvPr/>
        </p:nvCxnSpPr>
        <p:spPr>
          <a:xfrm flipH="1" flipV="1">
            <a:off x="3168698" y="5486688"/>
            <a:ext cx="476022" cy="429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AB97FF2-A817-335E-D54D-BC0EE26AB6A2}"/>
              </a:ext>
            </a:extLst>
          </p:cNvPr>
          <p:cNvCxnSpPr>
            <a:endCxn id="29" idx="6"/>
          </p:cNvCxnSpPr>
          <p:nvPr/>
        </p:nvCxnSpPr>
        <p:spPr>
          <a:xfrm flipH="1" flipV="1">
            <a:off x="4348385" y="2467760"/>
            <a:ext cx="356768" cy="115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31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2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750"/>
                            </p:stCondLst>
                            <p:childTnLst>
                              <p:par>
                                <p:cTn id="5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6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25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75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250"/>
                            </p:stCondLst>
                            <p:childTnLst>
                              <p:par>
                                <p:cTn id="9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9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20" grpId="0" animBg="1"/>
      <p:bldP spid="22" grpId="0" animBg="1"/>
      <p:bldP spid="24" grpId="0" animBg="1"/>
      <p:bldP spid="26" grpId="0" animBg="1"/>
      <p:bldP spid="27" grpId="0" animBg="1"/>
      <p:bldP spid="29" grpId="0" animBg="1"/>
      <p:bldP spid="33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B6F91-BD4F-3C4E-AE44-6EFD5B6E3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15732D73-9F32-86A1-B92D-D4105295F77B}"/>
              </a:ext>
            </a:extLst>
          </p:cNvPr>
          <p:cNvGrpSpPr/>
          <p:nvPr/>
        </p:nvGrpSpPr>
        <p:grpSpPr>
          <a:xfrm>
            <a:off x="5658156" y="5273519"/>
            <a:ext cx="4624435" cy="753318"/>
            <a:chOff x="5658156" y="5273519"/>
            <a:chExt cx="4624435" cy="75331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0A2DCD4-91C1-4336-9375-174B3DB32BCF}"/>
                </a:ext>
              </a:extLst>
            </p:cNvPr>
            <p:cNvGrpSpPr/>
            <p:nvPr/>
          </p:nvGrpSpPr>
          <p:grpSpPr>
            <a:xfrm>
              <a:off x="5658156" y="5273519"/>
              <a:ext cx="3929061" cy="753318"/>
              <a:chOff x="5658156" y="5273519"/>
              <a:chExt cx="3929061" cy="753318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CC599990-4A30-065F-9F11-7C3CA4AD8567}"/>
                  </a:ext>
                </a:extLst>
              </p:cNvPr>
              <p:cNvSpPr/>
              <p:nvPr/>
            </p:nvSpPr>
            <p:spPr>
              <a:xfrm>
                <a:off x="5658156" y="5290178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70D9FF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46F29FC4-A06A-110E-BE61-965DD49E219A}"/>
                  </a:ext>
                </a:extLst>
              </p:cNvPr>
              <p:cNvSpPr/>
              <p:nvPr/>
            </p:nvSpPr>
            <p:spPr>
              <a:xfrm>
                <a:off x="5658156" y="5273519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04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2A790CE-C2F5-7ADD-FC89-D7F9971CCBCA}"/>
                </a:ext>
              </a:extLst>
            </p:cNvPr>
            <p:cNvSpPr txBox="1"/>
            <p:nvPr/>
          </p:nvSpPr>
          <p:spPr>
            <a:xfrm>
              <a:off x="6353530" y="5323496"/>
              <a:ext cx="392906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Investing in experience directly increases earning potential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A6F5777-6713-C404-D007-DD0ABA8FC688}"/>
              </a:ext>
            </a:extLst>
          </p:cNvPr>
          <p:cNvGrpSpPr/>
          <p:nvPr/>
        </p:nvGrpSpPr>
        <p:grpSpPr>
          <a:xfrm>
            <a:off x="6497268" y="3605231"/>
            <a:ext cx="4072078" cy="753318"/>
            <a:chOff x="6497268" y="3605231"/>
            <a:chExt cx="4072078" cy="75331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7B7EC34-F545-A814-F666-5A90A1A8ACA6}"/>
                </a:ext>
              </a:extLst>
            </p:cNvPr>
            <p:cNvGrpSpPr/>
            <p:nvPr/>
          </p:nvGrpSpPr>
          <p:grpSpPr>
            <a:xfrm>
              <a:off x="6497268" y="3605231"/>
              <a:ext cx="3929061" cy="753318"/>
              <a:chOff x="6497268" y="3605231"/>
              <a:chExt cx="3929061" cy="753318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3B93B1DB-E1E7-E3D6-6B80-00B4051CCE40}"/>
                  </a:ext>
                </a:extLst>
              </p:cNvPr>
              <p:cNvSpPr/>
              <p:nvPr/>
            </p:nvSpPr>
            <p:spPr>
              <a:xfrm>
                <a:off x="6497268" y="3605231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1D6E2A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549A1E6-A23F-7641-BE55-46F6DE7C31CE}"/>
                  </a:ext>
                </a:extLst>
              </p:cNvPr>
              <p:cNvSpPr/>
              <p:nvPr/>
            </p:nvSpPr>
            <p:spPr>
              <a:xfrm>
                <a:off x="6497268" y="3605231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03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53FDB4-7AC5-4A38-8975-38AF4C38648A}"/>
                </a:ext>
              </a:extLst>
            </p:cNvPr>
            <p:cNvSpPr txBox="1"/>
            <p:nvPr/>
          </p:nvSpPr>
          <p:spPr>
            <a:xfrm>
              <a:off x="7230847" y="3642065"/>
              <a:ext cx="3338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masis MT Pro" panose="02040504050005020304" pitchFamily="18" charset="0"/>
                </a:rPr>
                <a:t>Senior DS roles are 3x higher paid than entry level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713E3E-41D6-60E5-6E9B-85C94B561483}"/>
              </a:ext>
            </a:extLst>
          </p:cNvPr>
          <p:cNvGrpSpPr/>
          <p:nvPr/>
        </p:nvGrpSpPr>
        <p:grpSpPr>
          <a:xfrm>
            <a:off x="6408823" y="2206895"/>
            <a:ext cx="3960604" cy="753318"/>
            <a:chOff x="6408823" y="2206895"/>
            <a:chExt cx="3960604" cy="75331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E8F2EB7-0C6A-4425-6CFE-6906D5E1752A}"/>
                </a:ext>
              </a:extLst>
            </p:cNvPr>
            <p:cNvGrpSpPr/>
            <p:nvPr/>
          </p:nvGrpSpPr>
          <p:grpSpPr>
            <a:xfrm>
              <a:off x="6408823" y="2206895"/>
              <a:ext cx="3944832" cy="753318"/>
              <a:chOff x="6408823" y="2206895"/>
              <a:chExt cx="3944832" cy="753318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EB86038E-29BC-4875-E91C-E8EFB27715B5}"/>
                  </a:ext>
                </a:extLst>
              </p:cNvPr>
              <p:cNvSpPr/>
              <p:nvPr/>
            </p:nvSpPr>
            <p:spPr>
              <a:xfrm>
                <a:off x="6424594" y="2223554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FFFF0C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A96C6B5D-FCC0-587C-4288-9A0D29F33F83}"/>
                  </a:ext>
                </a:extLst>
              </p:cNvPr>
              <p:cNvSpPr/>
              <p:nvPr/>
            </p:nvSpPr>
            <p:spPr>
              <a:xfrm>
                <a:off x="6408823" y="2206895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02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9B32D11-E2CB-65B9-9A68-F3F9A8CBC7B0}"/>
                </a:ext>
              </a:extLst>
            </p:cNvPr>
            <p:cNvSpPr txBox="1"/>
            <p:nvPr/>
          </p:nvSpPr>
          <p:spPr>
            <a:xfrm>
              <a:off x="7106867" y="2239336"/>
              <a:ext cx="32625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Clear salary progression from junior to senior to director</a:t>
              </a: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A0F7F74C-896D-4FEC-F855-0C8D89299480}"/>
              </a:ext>
            </a:extLst>
          </p:cNvPr>
          <p:cNvSpPr/>
          <p:nvPr/>
        </p:nvSpPr>
        <p:spPr>
          <a:xfrm>
            <a:off x="781044" y="1972043"/>
            <a:ext cx="2863676" cy="282334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Elephant" panose="02020904090505020303" pitchFamily="18" charset="0"/>
              </a:rPr>
              <a:t>Experience Is Your Most Valuable Asset</a:t>
            </a:r>
          </a:p>
        </p:txBody>
      </p:sp>
      <p:sp>
        <p:nvSpPr>
          <p:cNvPr id="10" name="Block Arc 9">
            <a:extLst>
              <a:ext uri="{FF2B5EF4-FFF2-40B4-BE49-F238E27FC236}">
                <a16:creationId xmlns:a16="http://schemas.microsoft.com/office/drawing/2014/main" id="{E77A2030-A11B-3C0B-87E7-9430439ED906}"/>
              </a:ext>
            </a:extLst>
          </p:cNvPr>
          <p:cNvSpPr/>
          <p:nvPr/>
        </p:nvSpPr>
        <p:spPr>
          <a:xfrm rot="19894018">
            <a:off x="635532" y="1825300"/>
            <a:ext cx="3148880" cy="3116832"/>
          </a:xfrm>
          <a:prstGeom prst="blockArc">
            <a:avLst>
              <a:gd name="adj1" fmla="val 18138812"/>
              <a:gd name="adj2" fmla="val 21125266"/>
              <a:gd name="adj3" fmla="val 5079"/>
            </a:avLst>
          </a:prstGeo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Block Arc 19">
            <a:extLst>
              <a:ext uri="{FF2B5EF4-FFF2-40B4-BE49-F238E27FC236}">
                <a16:creationId xmlns:a16="http://schemas.microsoft.com/office/drawing/2014/main" id="{292CE28D-E133-578E-8BE3-E59A9C7B3054}"/>
              </a:ext>
            </a:extLst>
          </p:cNvPr>
          <p:cNvSpPr/>
          <p:nvPr/>
        </p:nvSpPr>
        <p:spPr>
          <a:xfrm rot="3091017">
            <a:off x="824721" y="1937681"/>
            <a:ext cx="2932848" cy="3090673"/>
          </a:xfrm>
          <a:prstGeom prst="blockArc">
            <a:avLst>
              <a:gd name="adj1" fmla="val 18729798"/>
              <a:gd name="adj2" fmla="val 166116"/>
              <a:gd name="adj3" fmla="val 5306"/>
            </a:avLst>
          </a:prstGeom>
          <a:solidFill>
            <a:schemeClr val="accent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Block Arc 21">
            <a:extLst>
              <a:ext uri="{FF2B5EF4-FFF2-40B4-BE49-F238E27FC236}">
                <a16:creationId xmlns:a16="http://schemas.microsoft.com/office/drawing/2014/main" id="{5DC02079-F29A-D09D-2357-DB79B7EEA9AA}"/>
              </a:ext>
            </a:extLst>
          </p:cNvPr>
          <p:cNvSpPr/>
          <p:nvPr/>
        </p:nvSpPr>
        <p:spPr>
          <a:xfrm rot="5733253">
            <a:off x="741434" y="1980522"/>
            <a:ext cx="2886749" cy="3090673"/>
          </a:xfrm>
          <a:prstGeom prst="blockArc">
            <a:avLst>
              <a:gd name="adj1" fmla="val 18840889"/>
              <a:gd name="adj2" fmla="val 21580225"/>
              <a:gd name="adj3" fmla="val 5655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Block Arc 23">
            <a:extLst>
              <a:ext uri="{FF2B5EF4-FFF2-40B4-BE49-F238E27FC236}">
                <a16:creationId xmlns:a16="http://schemas.microsoft.com/office/drawing/2014/main" id="{B65973BE-95BD-C46A-6760-88E566498D3F}"/>
              </a:ext>
            </a:extLst>
          </p:cNvPr>
          <p:cNvSpPr/>
          <p:nvPr/>
        </p:nvSpPr>
        <p:spPr>
          <a:xfrm rot="1026976">
            <a:off x="647556" y="1825300"/>
            <a:ext cx="3148880" cy="3116832"/>
          </a:xfrm>
          <a:prstGeom prst="blockArc">
            <a:avLst>
              <a:gd name="adj1" fmla="val 18377157"/>
              <a:gd name="adj2" fmla="val 21001090"/>
              <a:gd name="adj3" fmla="val 4528"/>
            </a:avLst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0951604B-38DB-3359-D6CB-A9A6B355A1F6}"/>
              </a:ext>
            </a:extLst>
          </p:cNvPr>
          <p:cNvSpPr/>
          <p:nvPr/>
        </p:nvSpPr>
        <p:spPr>
          <a:xfrm>
            <a:off x="200025" y="1257300"/>
            <a:ext cx="4229100" cy="4343400"/>
          </a:xfrm>
          <a:prstGeom prst="arc">
            <a:avLst>
              <a:gd name="adj1" fmla="val 16064777"/>
              <a:gd name="adj2" fmla="val 59811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070428F-5D8B-4BF5-756A-50E57143AEFC}"/>
              </a:ext>
            </a:extLst>
          </p:cNvPr>
          <p:cNvSpPr/>
          <p:nvPr/>
        </p:nvSpPr>
        <p:spPr>
          <a:xfrm>
            <a:off x="3106997" y="1390508"/>
            <a:ext cx="174517" cy="160083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37F9FD9-E23B-E82B-238E-FF7BF2265747}"/>
              </a:ext>
            </a:extLst>
          </p:cNvPr>
          <p:cNvSpPr/>
          <p:nvPr/>
        </p:nvSpPr>
        <p:spPr>
          <a:xfrm>
            <a:off x="4173868" y="2387718"/>
            <a:ext cx="174517" cy="160083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316C004-4DC4-B4CF-278D-997492AA2C9C}"/>
              </a:ext>
            </a:extLst>
          </p:cNvPr>
          <p:cNvSpPr/>
          <p:nvPr/>
        </p:nvSpPr>
        <p:spPr>
          <a:xfrm>
            <a:off x="3019738" y="5350049"/>
            <a:ext cx="174517" cy="16008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B4BF87E-122A-5383-4A3D-B286782BEDDC}"/>
              </a:ext>
            </a:extLst>
          </p:cNvPr>
          <p:cNvGrpSpPr/>
          <p:nvPr/>
        </p:nvGrpSpPr>
        <p:grpSpPr>
          <a:xfrm>
            <a:off x="5467196" y="553523"/>
            <a:ext cx="3944832" cy="753318"/>
            <a:chOff x="5467196" y="553523"/>
            <a:chExt cx="3944832" cy="75331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7C9C8CF-4EED-7F43-43E4-9F74073DE548}"/>
                </a:ext>
              </a:extLst>
            </p:cNvPr>
            <p:cNvSpPr/>
            <p:nvPr/>
          </p:nvSpPr>
          <p:spPr>
            <a:xfrm>
              <a:off x="5482967" y="586840"/>
              <a:ext cx="3929061" cy="720000"/>
            </a:xfrm>
            <a:prstGeom prst="roundRect">
              <a:avLst>
                <a:gd name="adj" fmla="val 50000"/>
              </a:avLst>
            </a:prstGeom>
            <a:solidFill>
              <a:srgbClr val="FF030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CE5C63-D11C-9B85-DCFC-8468B1BE447B}"/>
                </a:ext>
              </a:extLst>
            </p:cNvPr>
            <p:cNvSpPr txBox="1"/>
            <p:nvPr/>
          </p:nvSpPr>
          <p:spPr>
            <a:xfrm>
              <a:off x="6200775" y="623674"/>
              <a:ext cx="32112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masis MT Pro" panose="02040504050005020304" pitchFamily="18" charset="0"/>
                </a:rPr>
                <a:t>Director level earns 40% more than junior roles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9E9FBBF-62B7-5E3F-4560-28D28D7CB68D}"/>
                </a:ext>
              </a:extLst>
            </p:cNvPr>
            <p:cNvSpPr/>
            <p:nvPr/>
          </p:nvSpPr>
          <p:spPr>
            <a:xfrm>
              <a:off x="5467196" y="553523"/>
              <a:ext cx="733579" cy="75331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1"/>
                  </a:solidFill>
                  <a:latin typeface="Elephant" panose="02020904090505020303" pitchFamily="18" charset="0"/>
                </a:rPr>
                <a:t>01</a:t>
              </a:r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6897C34-E3B2-C3EE-A2E2-63E4CD7FE9AE}"/>
              </a:ext>
            </a:extLst>
          </p:cNvPr>
          <p:cNvCxnSpPr>
            <a:cxnSpLocks/>
            <a:stCxn id="27" idx="7"/>
          </p:cNvCxnSpPr>
          <p:nvPr/>
        </p:nvCxnSpPr>
        <p:spPr>
          <a:xfrm flipV="1">
            <a:off x="3255957" y="946840"/>
            <a:ext cx="388763" cy="467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8F6D323-C8BE-5EA5-0E36-8F0F787B27D8}"/>
              </a:ext>
            </a:extLst>
          </p:cNvPr>
          <p:cNvCxnSpPr>
            <a:stCxn id="56" idx="2"/>
          </p:cNvCxnSpPr>
          <p:nvPr/>
        </p:nvCxnSpPr>
        <p:spPr>
          <a:xfrm flipH="1">
            <a:off x="3644720" y="930182"/>
            <a:ext cx="1822476" cy="16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45A64F8-33F1-9495-C34F-B46392AE828A}"/>
              </a:ext>
            </a:extLst>
          </p:cNvPr>
          <p:cNvCxnSpPr>
            <a:cxnSpLocks/>
            <a:stCxn id="60" idx="2"/>
          </p:cNvCxnSpPr>
          <p:nvPr/>
        </p:nvCxnSpPr>
        <p:spPr>
          <a:xfrm flipH="1">
            <a:off x="4705153" y="2583554"/>
            <a:ext cx="17036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BFA0BAC-78A9-1317-C69B-2F75B2E5592E}"/>
              </a:ext>
            </a:extLst>
          </p:cNvPr>
          <p:cNvCxnSpPr>
            <a:stCxn id="58" idx="2"/>
          </p:cNvCxnSpPr>
          <p:nvPr/>
        </p:nvCxnSpPr>
        <p:spPr>
          <a:xfrm flipH="1" flipV="1">
            <a:off x="4717378" y="3965231"/>
            <a:ext cx="1779890" cy="16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CCE2B38-A71F-3791-860E-557F6FB2D8B0}"/>
              </a:ext>
            </a:extLst>
          </p:cNvPr>
          <p:cNvCxnSpPr/>
          <p:nvPr/>
        </p:nvCxnSpPr>
        <p:spPr>
          <a:xfrm flipH="1">
            <a:off x="4261126" y="3965231"/>
            <a:ext cx="456252" cy="249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1378EE82-4AA9-8A3E-F2AF-C105CF1FE7EC}"/>
              </a:ext>
            </a:extLst>
          </p:cNvPr>
          <p:cNvSpPr/>
          <p:nvPr/>
        </p:nvSpPr>
        <p:spPr>
          <a:xfrm>
            <a:off x="4191057" y="4133737"/>
            <a:ext cx="174517" cy="16008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6D1965E-14AC-D5A8-774B-C6DAA5ECEBC9}"/>
              </a:ext>
            </a:extLst>
          </p:cNvPr>
          <p:cNvCxnSpPr>
            <a:cxnSpLocks/>
            <a:stCxn id="62" idx="3"/>
          </p:cNvCxnSpPr>
          <p:nvPr/>
        </p:nvCxnSpPr>
        <p:spPr>
          <a:xfrm flipH="1">
            <a:off x="3644720" y="5916516"/>
            <a:ext cx="2120866" cy="113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747307E-CF91-CDE2-005F-4F5A43CE3590}"/>
              </a:ext>
            </a:extLst>
          </p:cNvPr>
          <p:cNvCxnSpPr>
            <a:endCxn id="33" idx="5"/>
          </p:cNvCxnSpPr>
          <p:nvPr/>
        </p:nvCxnSpPr>
        <p:spPr>
          <a:xfrm flipH="1" flipV="1">
            <a:off x="3168698" y="5486688"/>
            <a:ext cx="476022" cy="429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DE68B30-EA92-8CF3-432C-D24ED0F346B1}"/>
              </a:ext>
            </a:extLst>
          </p:cNvPr>
          <p:cNvCxnSpPr>
            <a:endCxn id="29" idx="6"/>
          </p:cNvCxnSpPr>
          <p:nvPr/>
        </p:nvCxnSpPr>
        <p:spPr>
          <a:xfrm flipH="1" flipV="1">
            <a:off x="4348385" y="2467760"/>
            <a:ext cx="356768" cy="115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13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2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750"/>
                            </p:stCondLst>
                            <p:childTnLst>
                              <p:par>
                                <p:cTn id="5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6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25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75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250"/>
                            </p:stCondLst>
                            <p:childTnLst>
                              <p:par>
                                <p:cTn id="9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9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20" grpId="0" animBg="1"/>
      <p:bldP spid="22" grpId="0" animBg="1"/>
      <p:bldP spid="24" grpId="0" animBg="1"/>
      <p:bldP spid="26" grpId="0" animBg="1"/>
      <p:bldP spid="27" grpId="0" animBg="1"/>
      <p:bldP spid="29" grpId="0" animBg="1"/>
      <p:bldP spid="33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C2C2C0-4850-4E4F-EB91-1B294EB4A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23CD778F-22FB-9D4D-A1DF-5A8C8478E289}"/>
              </a:ext>
            </a:extLst>
          </p:cNvPr>
          <p:cNvGrpSpPr/>
          <p:nvPr/>
        </p:nvGrpSpPr>
        <p:grpSpPr>
          <a:xfrm>
            <a:off x="5658156" y="5273519"/>
            <a:ext cx="4143069" cy="753318"/>
            <a:chOff x="5658156" y="5273519"/>
            <a:chExt cx="4143069" cy="75331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69E4750-4860-55FD-A34D-1FF2D93049A8}"/>
                </a:ext>
              </a:extLst>
            </p:cNvPr>
            <p:cNvGrpSpPr/>
            <p:nvPr/>
          </p:nvGrpSpPr>
          <p:grpSpPr>
            <a:xfrm>
              <a:off x="5658156" y="5273519"/>
              <a:ext cx="3929061" cy="753318"/>
              <a:chOff x="5658156" y="5273519"/>
              <a:chExt cx="3929061" cy="753318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C89BB0B9-F815-9C07-72D3-1A302B7E9AF2}"/>
                  </a:ext>
                </a:extLst>
              </p:cNvPr>
              <p:cNvSpPr/>
              <p:nvPr/>
            </p:nvSpPr>
            <p:spPr>
              <a:xfrm>
                <a:off x="5658156" y="5290178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70D9FF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205E9DAA-8165-7A5E-990C-0F532D7909F9}"/>
                  </a:ext>
                </a:extLst>
              </p:cNvPr>
              <p:cNvSpPr/>
              <p:nvPr/>
            </p:nvSpPr>
            <p:spPr>
              <a:xfrm>
                <a:off x="5658156" y="5273519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04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4A0BD16-582C-862F-702B-196A6A851BF1}"/>
                </a:ext>
              </a:extLst>
            </p:cNvPr>
            <p:cNvSpPr txBox="1"/>
            <p:nvPr/>
          </p:nvSpPr>
          <p:spPr>
            <a:xfrm>
              <a:off x="6353530" y="5323496"/>
              <a:ext cx="34476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Healthcare sector rapidly adopting Data Science roles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BDBF1A3-A0D4-AFAB-13D1-0BAD288C2B58}"/>
              </a:ext>
            </a:extLst>
          </p:cNvPr>
          <p:cNvGrpSpPr/>
          <p:nvPr/>
        </p:nvGrpSpPr>
        <p:grpSpPr>
          <a:xfrm>
            <a:off x="6497268" y="3605231"/>
            <a:ext cx="4072078" cy="753318"/>
            <a:chOff x="6497268" y="3605231"/>
            <a:chExt cx="4072078" cy="75331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4AD1E56-58C4-2C41-DF67-D493CA79321C}"/>
                </a:ext>
              </a:extLst>
            </p:cNvPr>
            <p:cNvGrpSpPr/>
            <p:nvPr/>
          </p:nvGrpSpPr>
          <p:grpSpPr>
            <a:xfrm>
              <a:off x="6497268" y="3605231"/>
              <a:ext cx="3929061" cy="753318"/>
              <a:chOff x="6497268" y="3605231"/>
              <a:chExt cx="3929061" cy="753318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6B1306B6-027C-C8FB-C198-62A89436A50E}"/>
                  </a:ext>
                </a:extLst>
              </p:cNvPr>
              <p:cNvSpPr/>
              <p:nvPr/>
            </p:nvSpPr>
            <p:spPr>
              <a:xfrm>
                <a:off x="6497268" y="3605231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1D6E2A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24F88E5C-6542-ED4A-544E-A653296463DB}"/>
                  </a:ext>
                </a:extLst>
              </p:cNvPr>
              <p:cNvSpPr/>
              <p:nvPr/>
            </p:nvSpPr>
            <p:spPr>
              <a:xfrm>
                <a:off x="6497268" y="3605231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03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DFAC1AB-5111-496C-3236-68E7B8AB563C}"/>
                </a:ext>
              </a:extLst>
            </p:cNvPr>
            <p:cNvSpPr txBox="1"/>
            <p:nvPr/>
          </p:nvSpPr>
          <p:spPr>
            <a:xfrm>
              <a:off x="7230847" y="3642065"/>
              <a:ext cx="3338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masis MT Pro" panose="02040504050005020304" pitchFamily="18" charset="0"/>
                </a:rPr>
                <a:t>Government &amp; Nonprofit also actively hiring DS talent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85D4BFC-0E84-07CB-F63F-7AF909BD8173}"/>
              </a:ext>
            </a:extLst>
          </p:cNvPr>
          <p:cNvGrpSpPr/>
          <p:nvPr/>
        </p:nvGrpSpPr>
        <p:grpSpPr>
          <a:xfrm>
            <a:off x="6408823" y="2206895"/>
            <a:ext cx="3960604" cy="753318"/>
            <a:chOff x="6408823" y="2206895"/>
            <a:chExt cx="3960604" cy="75331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0C57DBD-C350-BEFC-945F-3162858D919E}"/>
                </a:ext>
              </a:extLst>
            </p:cNvPr>
            <p:cNvGrpSpPr/>
            <p:nvPr/>
          </p:nvGrpSpPr>
          <p:grpSpPr>
            <a:xfrm>
              <a:off x="6408823" y="2206895"/>
              <a:ext cx="3944832" cy="753318"/>
              <a:chOff x="6408823" y="2206895"/>
              <a:chExt cx="3944832" cy="753318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C13207C2-D576-781C-5906-41458C9347F3}"/>
                  </a:ext>
                </a:extLst>
              </p:cNvPr>
              <p:cNvSpPr/>
              <p:nvPr/>
            </p:nvSpPr>
            <p:spPr>
              <a:xfrm>
                <a:off x="6424594" y="2223554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FFFF0C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D1CA24D6-2291-A86C-51AB-A8F6A10374B1}"/>
                  </a:ext>
                </a:extLst>
              </p:cNvPr>
              <p:cNvSpPr/>
              <p:nvPr/>
            </p:nvSpPr>
            <p:spPr>
              <a:xfrm>
                <a:off x="6408823" y="2206895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02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4A7715-5B0C-9016-67E7-6CCF783BF5C9}"/>
                </a:ext>
              </a:extLst>
            </p:cNvPr>
            <p:cNvSpPr txBox="1"/>
            <p:nvPr/>
          </p:nvSpPr>
          <p:spPr>
            <a:xfrm>
              <a:off x="7106867" y="2239336"/>
              <a:ext cx="32625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Company-Private dominates with 55% of all jobs</a:t>
              </a: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9ED260B8-4417-A5FE-7DA8-E6AC5AA354DD}"/>
              </a:ext>
            </a:extLst>
          </p:cNvPr>
          <p:cNvSpPr/>
          <p:nvPr/>
        </p:nvSpPr>
        <p:spPr>
          <a:xfrm>
            <a:off x="781044" y="1972043"/>
            <a:ext cx="2863676" cy="282334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Elephant" panose="02020904090505020303" pitchFamily="18" charset="0"/>
              </a:rPr>
              <a:t>Where Should You Apply?</a:t>
            </a:r>
          </a:p>
        </p:txBody>
      </p:sp>
      <p:sp>
        <p:nvSpPr>
          <p:cNvPr id="10" name="Block Arc 9">
            <a:extLst>
              <a:ext uri="{FF2B5EF4-FFF2-40B4-BE49-F238E27FC236}">
                <a16:creationId xmlns:a16="http://schemas.microsoft.com/office/drawing/2014/main" id="{7E596EEE-43B5-7105-0EBB-50D277A38FE4}"/>
              </a:ext>
            </a:extLst>
          </p:cNvPr>
          <p:cNvSpPr/>
          <p:nvPr/>
        </p:nvSpPr>
        <p:spPr>
          <a:xfrm rot="19894018">
            <a:off x="635532" y="1825300"/>
            <a:ext cx="3148880" cy="3116832"/>
          </a:xfrm>
          <a:prstGeom prst="blockArc">
            <a:avLst>
              <a:gd name="adj1" fmla="val 18138812"/>
              <a:gd name="adj2" fmla="val 21125266"/>
              <a:gd name="adj3" fmla="val 5079"/>
            </a:avLst>
          </a:prstGeo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Block Arc 19">
            <a:extLst>
              <a:ext uri="{FF2B5EF4-FFF2-40B4-BE49-F238E27FC236}">
                <a16:creationId xmlns:a16="http://schemas.microsoft.com/office/drawing/2014/main" id="{ADDBB13E-793E-D6B1-F6F4-648F96DE410A}"/>
              </a:ext>
            </a:extLst>
          </p:cNvPr>
          <p:cNvSpPr/>
          <p:nvPr/>
        </p:nvSpPr>
        <p:spPr>
          <a:xfrm rot="3091017">
            <a:off x="824721" y="1937681"/>
            <a:ext cx="2932848" cy="3090673"/>
          </a:xfrm>
          <a:prstGeom prst="blockArc">
            <a:avLst>
              <a:gd name="adj1" fmla="val 18729798"/>
              <a:gd name="adj2" fmla="val 166116"/>
              <a:gd name="adj3" fmla="val 5306"/>
            </a:avLst>
          </a:prstGeom>
          <a:solidFill>
            <a:schemeClr val="accent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Block Arc 21">
            <a:extLst>
              <a:ext uri="{FF2B5EF4-FFF2-40B4-BE49-F238E27FC236}">
                <a16:creationId xmlns:a16="http://schemas.microsoft.com/office/drawing/2014/main" id="{78713EFA-BC1E-2F9E-4945-C257DAED943F}"/>
              </a:ext>
            </a:extLst>
          </p:cNvPr>
          <p:cNvSpPr/>
          <p:nvPr/>
        </p:nvSpPr>
        <p:spPr>
          <a:xfrm rot="5733253">
            <a:off x="741434" y="1980522"/>
            <a:ext cx="2886749" cy="3090673"/>
          </a:xfrm>
          <a:prstGeom prst="blockArc">
            <a:avLst>
              <a:gd name="adj1" fmla="val 18840889"/>
              <a:gd name="adj2" fmla="val 21580225"/>
              <a:gd name="adj3" fmla="val 5655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Block Arc 23">
            <a:extLst>
              <a:ext uri="{FF2B5EF4-FFF2-40B4-BE49-F238E27FC236}">
                <a16:creationId xmlns:a16="http://schemas.microsoft.com/office/drawing/2014/main" id="{39E02227-75DA-8DAD-F2CC-E888511598A1}"/>
              </a:ext>
            </a:extLst>
          </p:cNvPr>
          <p:cNvSpPr/>
          <p:nvPr/>
        </p:nvSpPr>
        <p:spPr>
          <a:xfrm rot="1026976">
            <a:off x="647556" y="1825300"/>
            <a:ext cx="3148880" cy="3116832"/>
          </a:xfrm>
          <a:prstGeom prst="blockArc">
            <a:avLst>
              <a:gd name="adj1" fmla="val 18377157"/>
              <a:gd name="adj2" fmla="val 21001090"/>
              <a:gd name="adj3" fmla="val 4528"/>
            </a:avLst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AC3240C9-1269-F2DB-07C3-EA7A8A7F3F75}"/>
              </a:ext>
            </a:extLst>
          </p:cNvPr>
          <p:cNvSpPr/>
          <p:nvPr/>
        </p:nvSpPr>
        <p:spPr>
          <a:xfrm>
            <a:off x="200025" y="1257300"/>
            <a:ext cx="4229100" cy="4343400"/>
          </a:xfrm>
          <a:prstGeom prst="arc">
            <a:avLst>
              <a:gd name="adj1" fmla="val 16064777"/>
              <a:gd name="adj2" fmla="val 59811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C9AB2B9-4EED-89C2-E108-BE77722C3202}"/>
              </a:ext>
            </a:extLst>
          </p:cNvPr>
          <p:cNvSpPr/>
          <p:nvPr/>
        </p:nvSpPr>
        <p:spPr>
          <a:xfrm>
            <a:off x="3106997" y="1390508"/>
            <a:ext cx="174517" cy="160083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56FF386-CC80-6E35-D473-57016B94A851}"/>
              </a:ext>
            </a:extLst>
          </p:cNvPr>
          <p:cNvSpPr/>
          <p:nvPr/>
        </p:nvSpPr>
        <p:spPr>
          <a:xfrm>
            <a:off x="4173868" y="2387718"/>
            <a:ext cx="174517" cy="160083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C3808AA-FD19-FD51-D92C-4EB3590A32BF}"/>
              </a:ext>
            </a:extLst>
          </p:cNvPr>
          <p:cNvSpPr/>
          <p:nvPr/>
        </p:nvSpPr>
        <p:spPr>
          <a:xfrm>
            <a:off x="3019738" y="5350049"/>
            <a:ext cx="174517" cy="16008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667284A-486A-722F-2F2A-1DB0DEF70281}"/>
              </a:ext>
            </a:extLst>
          </p:cNvPr>
          <p:cNvGrpSpPr/>
          <p:nvPr/>
        </p:nvGrpSpPr>
        <p:grpSpPr>
          <a:xfrm>
            <a:off x="5467196" y="553523"/>
            <a:ext cx="3944832" cy="753318"/>
            <a:chOff x="5467196" y="553523"/>
            <a:chExt cx="3944832" cy="75331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4567446B-5BA0-E7D3-EA54-484E72B7C5D3}"/>
                </a:ext>
              </a:extLst>
            </p:cNvPr>
            <p:cNvSpPr/>
            <p:nvPr/>
          </p:nvSpPr>
          <p:spPr>
            <a:xfrm>
              <a:off x="5482967" y="586840"/>
              <a:ext cx="3929061" cy="720000"/>
            </a:xfrm>
            <a:prstGeom prst="roundRect">
              <a:avLst>
                <a:gd name="adj" fmla="val 50000"/>
              </a:avLst>
            </a:prstGeom>
            <a:solidFill>
              <a:srgbClr val="FF030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C2983D4-47FD-7114-5BA9-879CC6830BE7}"/>
                </a:ext>
              </a:extLst>
            </p:cNvPr>
            <p:cNvSpPr txBox="1"/>
            <p:nvPr/>
          </p:nvSpPr>
          <p:spPr>
            <a:xfrm>
              <a:off x="6200775" y="623674"/>
              <a:ext cx="32112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masis MT Pro" panose="02040504050005020304" pitchFamily="18" charset="0"/>
                </a:rPr>
                <a:t>Biotech &amp; Pharma is top sector by job count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8C7991A-55B4-105C-B6D7-94FBDCC3B3B0}"/>
                </a:ext>
              </a:extLst>
            </p:cNvPr>
            <p:cNvSpPr/>
            <p:nvPr/>
          </p:nvSpPr>
          <p:spPr>
            <a:xfrm>
              <a:off x="5467196" y="553523"/>
              <a:ext cx="733579" cy="75331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1"/>
                  </a:solidFill>
                  <a:latin typeface="Elephant" panose="02020904090505020303" pitchFamily="18" charset="0"/>
                </a:rPr>
                <a:t>01</a:t>
              </a:r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7D85A61-5BF3-0ABA-7D47-1EB629741201}"/>
              </a:ext>
            </a:extLst>
          </p:cNvPr>
          <p:cNvCxnSpPr>
            <a:cxnSpLocks/>
            <a:stCxn id="27" idx="7"/>
          </p:cNvCxnSpPr>
          <p:nvPr/>
        </p:nvCxnSpPr>
        <p:spPr>
          <a:xfrm flipV="1">
            <a:off x="3255957" y="946840"/>
            <a:ext cx="388763" cy="467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7D7F0C5-6255-A5F3-7F14-AECFF7FB4F1B}"/>
              </a:ext>
            </a:extLst>
          </p:cNvPr>
          <p:cNvCxnSpPr>
            <a:stCxn id="56" idx="2"/>
          </p:cNvCxnSpPr>
          <p:nvPr/>
        </p:nvCxnSpPr>
        <p:spPr>
          <a:xfrm flipH="1">
            <a:off x="3644720" y="930182"/>
            <a:ext cx="1822476" cy="16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AAB04FB-4478-E52C-CE07-51526C2D0889}"/>
              </a:ext>
            </a:extLst>
          </p:cNvPr>
          <p:cNvCxnSpPr>
            <a:cxnSpLocks/>
            <a:stCxn id="60" idx="2"/>
          </p:cNvCxnSpPr>
          <p:nvPr/>
        </p:nvCxnSpPr>
        <p:spPr>
          <a:xfrm flipH="1">
            <a:off x="4705153" y="2583554"/>
            <a:ext cx="17036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A8B728F-DD33-D8B3-468A-EEE7B1143ACF}"/>
              </a:ext>
            </a:extLst>
          </p:cNvPr>
          <p:cNvCxnSpPr>
            <a:stCxn id="58" idx="2"/>
          </p:cNvCxnSpPr>
          <p:nvPr/>
        </p:nvCxnSpPr>
        <p:spPr>
          <a:xfrm flipH="1" flipV="1">
            <a:off x="4717378" y="3965231"/>
            <a:ext cx="1779890" cy="16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7AB4AB4-4E88-E29E-F6E4-B756C02DF0EE}"/>
              </a:ext>
            </a:extLst>
          </p:cNvPr>
          <p:cNvCxnSpPr/>
          <p:nvPr/>
        </p:nvCxnSpPr>
        <p:spPr>
          <a:xfrm flipH="1">
            <a:off x="4261126" y="3965231"/>
            <a:ext cx="456252" cy="249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4266A79A-32E3-CC99-5443-6138270B3BC1}"/>
              </a:ext>
            </a:extLst>
          </p:cNvPr>
          <p:cNvSpPr/>
          <p:nvPr/>
        </p:nvSpPr>
        <p:spPr>
          <a:xfrm>
            <a:off x="4191057" y="4133737"/>
            <a:ext cx="174517" cy="16008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801D9C5-C407-379B-8114-C03A58808A7F}"/>
              </a:ext>
            </a:extLst>
          </p:cNvPr>
          <p:cNvCxnSpPr>
            <a:cxnSpLocks/>
            <a:stCxn id="62" idx="3"/>
          </p:cNvCxnSpPr>
          <p:nvPr/>
        </p:nvCxnSpPr>
        <p:spPr>
          <a:xfrm flipH="1">
            <a:off x="3644720" y="5916516"/>
            <a:ext cx="2120866" cy="113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55C10CC-B779-58D6-06F7-8FC6BD00145B}"/>
              </a:ext>
            </a:extLst>
          </p:cNvPr>
          <p:cNvCxnSpPr>
            <a:endCxn id="33" idx="5"/>
          </p:cNvCxnSpPr>
          <p:nvPr/>
        </p:nvCxnSpPr>
        <p:spPr>
          <a:xfrm flipH="1" flipV="1">
            <a:off x="3168698" y="5486688"/>
            <a:ext cx="476022" cy="429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9448E0A-B6FD-3477-9348-F0E35FA1624A}"/>
              </a:ext>
            </a:extLst>
          </p:cNvPr>
          <p:cNvCxnSpPr>
            <a:endCxn id="29" idx="6"/>
          </p:cNvCxnSpPr>
          <p:nvPr/>
        </p:nvCxnSpPr>
        <p:spPr>
          <a:xfrm flipH="1" flipV="1">
            <a:off x="4348385" y="2467760"/>
            <a:ext cx="356768" cy="115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78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2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750"/>
                            </p:stCondLst>
                            <p:childTnLst>
                              <p:par>
                                <p:cTn id="5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6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25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75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250"/>
                            </p:stCondLst>
                            <p:childTnLst>
                              <p:par>
                                <p:cTn id="9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9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20" grpId="0" animBg="1"/>
      <p:bldP spid="22" grpId="0" animBg="1"/>
      <p:bldP spid="24" grpId="0" animBg="1"/>
      <p:bldP spid="26" grpId="0" animBg="1"/>
      <p:bldP spid="27" grpId="0" animBg="1"/>
      <p:bldP spid="29" grpId="0" animBg="1"/>
      <p:bldP spid="33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A015B-8C5E-129C-DA2C-30D3A2863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83356611-A6E0-E77F-7F9B-27576EDDBBD6}"/>
              </a:ext>
            </a:extLst>
          </p:cNvPr>
          <p:cNvGrpSpPr/>
          <p:nvPr/>
        </p:nvGrpSpPr>
        <p:grpSpPr>
          <a:xfrm>
            <a:off x="5658156" y="5273519"/>
            <a:ext cx="4143069" cy="753318"/>
            <a:chOff x="5658156" y="5273519"/>
            <a:chExt cx="4143069" cy="75331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85CCC49-36F3-C911-D479-57BF22A50C17}"/>
                </a:ext>
              </a:extLst>
            </p:cNvPr>
            <p:cNvGrpSpPr/>
            <p:nvPr/>
          </p:nvGrpSpPr>
          <p:grpSpPr>
            <a:xfrm>
              <a:off x="5658156" y="5273519"/>
              <a:ext cx="3929061" cy="753318"/>
              <a:chOff x="5658156" y="5273519"/>
              <a:chExt cx="3929061" cy="753318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FB13D602-23C7-E0E3-58D5-9DB0F9D5E877}"/>
                  </a:ext>
                </a:extLst>
              </p:cNvPr>
              <p:cNvSpPr/>
              <p:nvPr/>
            </p:nvSpPr>
            <p:spPr>
              <a:xfrm>
                <a:off x="5658156" y="5290178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70D9FF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535EB565-E0A9-0016-D62F-0C9621DBA3BE}"/>
                  </a:ext>
                </a:extLst>
              </p:cNvPr>
              <p:cNvSpPr/>
              <p:nvPr/>
            </p:nvSpPr>
            <p:spPr>
              <a:xfrm>
                <a:off x="5658156" y="5273519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04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818BEC-8E8F-F10B-2BFB-710BA8344179}"/>
                </a:ext>
              </a:extLst>
            </p:cNvPr>
            <p:cNvSpPr txBox="1"/>
            <p:nvPr/>
          </p:nvSpPr>
          <p:spPr>
            <a:xfrm>
              <a:off x="6353530" y="5323496"/>
              <a:ext cx="34476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Build experience — seniority drives salary growth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C0745E9-FAD4-0295-01F8-ADE5C4E480CA}"/>
              </a:ext>
            </a:extLst>
          </p:cNvPr>
          <p:cNvGrpSpPr/>
          <p:nvPr/>
        </p:nvGrpSpPr>
        <p:grpSpPr>
          <a:xfrm>
            <a:off x="6497268" y="3605231"/>
            <a:ext cx="4072078" cy="753318"/>
            <a:chOff x="6497268" y="3605231"/>
            <a:chExt cx="4072078" cy="75331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AED02AC-6A01-7202-B2B2-97989138AC71}"/>
                </a:ext>
              </a:extLst>
            </p:cNvPr>
            <p:cNvGrpSpPr/>
            <p:nvPr/>
          </p:nvGrpSpPr>
          <p:grpSpPr>
            <a:xfrm>
              <a:off x="6497268" y="3605231"/>
              <a:ext cx="3929061" cy="753318"/>
              <a:chOff x="6497268" y="3605231"/>
              <a:chExt cx="3929061" cy="753318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CC35F4B6-CD9D-FDC3-B8FB-6D98E0E529AE}"/>
                  </a:ext>
                </a:extLst>
              </p:cNvPr>
              <p:cNvSpPr/>
              <p:nvPr/>
            </p:nvSpPr>
            <p:spPr>
              <a:xfrm>
                <a:off x="6497268" y="3605231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1D6E2A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FA34100F-E649-A23D-B76C-D35AE790C756}"/>
                  </a:ext>
                </a:extLst>
              </p:cNvPr>
              <p:cNvSpPr/>
              <p:nvPr/>
            </p:nvSpPr>
            <p:spPr>
              <a:xfrm>
                <a:off x="6497268" y="3605231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03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CF2222E-0E9A-7098-422E-71802731A73A}"/>
                </a:ext>
              </a:extLst>
            </p:cNvPr>
            <p:cNvSpPr txBox="1"/>
            <p:nvPr/>
          </p:nvSpPr>
          <p:spPr>
            <a:xfrm>
              <a:off x="7230847" y="3642065"/>
              <a:ext cx="33384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masis MT Pro" panose="02040504050005020304" pitchFamily="18" charset="0"/>
                </a:rPr>
                <a:t>Focus on Biotech, Finance and IT sectors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2EE1B27-7FBD-BCA1-0837-66C1FC3A543A}"/>
              </a:ext>
            </a:extLst>
          </p:cNvPr>
          <p:cNvGrpSpPr/>
          <p:nvPr/>
        </p:nvGrpSpPr>
        <p:grpSpPr>
          <a:xfrm>
            <a:off x="6408823" y="2206895"/>
            <a:ext cx="3960604" cy="753318"/>
            <a:chOff x="6408823" y="2206895"/>
            <a:chExt cx="3960604" cy="75331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F0CE4A0-6F25-2073-FCED-7A8FBB86F56F}"/>
                </a:ext>
              </a:extLst>
            </p:cNvPr>
            <p:cNvGrpSpPr/>
            <p:nvPr/>
          </p:nvGrpSpPr>
          <p:grpSpPr>
            <a:xfrm>
              <a:off x="6408823" y="2206895"/>
              <a:ext cx="3944832" cy="753318"/>
              <a:chOff x="6408823" y="2206895"/>
              <a:chExt cx="3944832" cy="753318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03327896-7D27-0A59-F480-4F534CE25D7B}"/>
                  </a:ext>
                </a:extLst>
              </p:cNvPr>
              <p:cNvSpPr/>
              <p:nvPr/>
            </p:nvSpPr>
            <p:spPr>
              <a:xfrm>
                <a:off x="6424594" y="2223554"/>
                <a:ext cx="3929061" cy="720000"/>
              </a:xfrm>
              <a:prstGeom prst="roundRect">
                <a:avLst>
                  <a:gd name="adj" fmla="val 50000"/>
                </a:avLst>
              </a:prstGeom>
              <a:solidFill>
                <a:srgbClr val="FFFF0C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A41BE633-F70B-6A5C-2B93-3AFAAB2AE388}"/>
                  </a:ext>
                </a:extLst>
              </p:cNvPr>
              <p:cNvSpPr/>
              <p:nvPr/>
            </p:nvSpPr>
            <p:spPr>
              <a:xfrm>
                <a:off x="6408823" y="2206895"/>
                <a:ext cx="733579" cy="75331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dirty="0">
                    <a:solidFill>
                      <a:schemeClr val="tx1"/>
                    </a:solidFill>
                    <a:latin typeface="Elephant" panose="02020904090505020303" pitchFamily="18" charset="0"/>
                  </a:rPr>
                  <a:t>02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A71293B-5CE5-A8AA-67AD-12F80A458A36}"/>
                </a:ext>
              </a:extLst>
            </p:cNvPr>
            <p:cNvSpPr txBox="1"/>
            <p:nvPr/>
          </p:nvSpPr>
          <p:spPr>
            <a:xfrm>
              <a:off x="7106867" y="2239336"/>
              <a:ext cx="32625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Master Python + SQL - required in 50%+ of jobs</a:t>
              </a: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293933C0-22CC-6479-0618-9B02716D8DF4}"/>
              </a:ext>
            </a:extLst>
          </p:cNvPr>
          <p:cNvSpPr/>
          <p:nvPr/>
        </p:nvSpPr>
        <p:spPr>
          <a:xfrm>
            <a:off x="781044" y="1972043"/>
            <a:ext cx="2863676" cy="282334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Elephant" panose="02020904090505020303" pitchFamily="18" charset="0"/>
              </a:rPr>
              <a:t>What Should You Do Next?</a:t>
            </a:r>
          </a:p>
        </p:txBody>
      </p:sp>
      <p:sp>
        <p:nvSpPr>
          <p:cNvPr id="10" name="Block Arc 9">
            <a:extLst>
              <a:ext uri="{FF2B5EF4-FFF2-40B4-BE49-F238E27FC236}">
                <a16:creationId xmlns:a16="http://schemas.microsoft.com/office/drawing/2014/main" id="{21FD3216-D61B-3AEF-DCFD-3BD69BD56BF5}"/>
              </a:ext>
            </a:extLst>
          </p:cNvPr>
          <p:cNvSpPr/>
          <p:nvPr/>
        </p:nvSpPr>
        <p:spPr>
          <a:xfrm rot="19894018">
            <a:off x="635532" y="1825300"/>
            <a:ext cx="3148880" cy="3116832"/>
          </a:xfrm>
          <a:prstGeom prst="blockArc">
            <a:avLst>
              <a:gd name="adj1" fmla="val 18138812"/>
              <a:gd name="adj2" fmla="val 21125266"/>
              <a:gd name="adj3" fmla="val 5079"/>
            </a:avLst>
          </a:prstGeo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Block Arc 19">
            <a:extLst>
              <a:ext uri="{FF2B5EF4-FFF2-40B4-BE49-F238E27FC236}">
                <a16:creationId xmlns:a16="http://schemas.microsoft.com/office/drawing/2014/main" id="{48CF55D2-5C98-C542-15E7-D90C229A5DBB}"/>
              </a:ext>
            </a:extLst>
          </p:cNvPr>
          <p:cNvSpPr/>
          <p:nvPr/>
        </p:nvSpPr>
        <p:spPr>
          <a:xfrm rot="3091017">
            <a:off x="824721" y="1937681"/>
            <a:ext cx="2932848" cy="3090673"/>
          </a:xfrm>
          <a:prstGeom prst="blockArc">
            <a:avLst>
              <a:gd name="adj1" fmla="val 18729798"/>
              <a:gd name="adj2" fmla="val 166116"/>
              <a:gd name="adj3" fmla="val 5306"/>
            </a:avLst>
          </a:prstGeom>
          <a:solidFill>
            <a:schemeClr val="accent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Block Arc 21">
            <a:extLst>
              <a:ext uri="{FF2B5EF4-FFF2-40B4-BE49-F238E27FC236}">
                <a16:creationId xmlns:a16="http://schemas.microsoft.com/office/drawing/2014/main" id="{3A0B63DF-54AE-BA01-3D18-1A2631AC9DDE}"/>
              </a:ext>
            </a:extLst>
          </p:cNvPr>
          <p:cNvSpPr/>
          <p:nvPr/>
        </p:nvSpPr>
        <p:spPr>
          <a:xfrm rot="5733253">
            <a:off x="741434" y="1980522"/>
            <a:ext cx="2886749" cy="3090673"/>
          </a:xfrm>
          <a:prstGeom prst="blockArc">
            <a:avLst>
              <a:gd name="adj1" fmla="val 18840889"/>
              <a:gd name="adj2" fmla="val 21580225"/>
              <a:gd name="adj3" fmla="val 5655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Block Arc 23">
            <a:extLst>
              <a:ext uri="{FF2B5EF4-FFF2-40B4-BE49-F238E27FC236}">
                <a16:creationId xmlns:a16="http://schemas.microsoft.com/office/drawing/2014/main" id="{1B83ADF9-E1BC-0248-28C3-264BA1E578A2}"/>
              </a:ext>
            </a:extLst>
          </p:cNvPr>
          <p:cNvSpPr/>
          <p:nvPr/>
        </p:nvSpPr>
        <p:spPr>
          <a:xfrm rot="1026976">
            <a:off x="647556" y="1825300"/>
            <a:ext cx="3148880" cy="3116832"/>
          </a:xfrm>
          <a:prstGeom prst="blockArc">
            <a:avLst>
              <a:gd name="adj1" fmla="val 18377157"/>
              <a:gd name="adj2" fmla="val 21001090"/>
              <a:gd name="adj3" fmla="val 4528"/>
            </a:avLst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B62F2F88-BA53-9221-8133-5F8CB37D0FBE}"/>
              </a:ext>
            </a:extLst>
          </p:cNvPr>
          <p:cNvSpPr/>
          <p:nvPr/>
        </p:nvSpPr>
        <p:spPr>
          <a:xfrm>
            <a:off x="200025" y="1257300"/>
            <a:ext cx="4229100" cy="4343400"/>
          </a:xfrm>
          <a:prstGeom prst="arc">
            <a:avLst>
              <a:gd name="adj1" fmla="val 16064777"/>
              <a:gd name="adj2" fmla="val 59811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E453DE-11A2-C323-3128-26238BBDAFA6}"/>
              </a:ext>
            </a:extLst>
          </p:cNvPr>
          <p:cNvSpPr/>
          <p:nvPr/>
        </p:nvSpPr>
        <p:spPr>
          <a:xfrm>
            <a:off x="3106997" y="1390508"/>
            <a:ext cx="174517" cy="160083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832A56B-F32E-C147-F2EB-256DDCF92BED}"/>
              </a:ext>
            </a:extLst>
          </p:cNvPr>
          <p:cNvSpPr/>
          <p:nvPr/>
        </p:nvSpPr>
        <p:spPr>
          <a:xfrm>
            <a:off x="4173868" y="2387718"/>
            <a:ext cx="174517" cy="160083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5C0CB2F-750E-6E76-BD04-063D95D00888}"/>
              </a:ext>
            </a:extLst>
          </p:cNvPr>
          <p:cNvSpPr/>
          <p:nvPr/>
        </p:nvSpPr>
        <p:spPr>
          <a:xfrm>
            <a:off x="3019738" y="5350049"/>
            <a:ext cx="174517" cy="16008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ABAA7B-EFB8-4EA7-6EDB-1342423A58B3}"/>
              </a:ext>
            </a:extLst>
          </p:cNvPr>
          <p:cNvGrpSpPr/>
          <p:nvPr/>
        </p:nvGrpSpPr>
        <p:grpSpPr>
          <a:xfrm>
            <a:off x="5467196" y="553523"/>
            <a:ext cx="3944832" cy="753318"/>
            <a:chOff x="5467196" y="553523"/>
            <a:chExt cx="3944832" cy="75331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E4706A5-5648-3432-6948-C2EA5E19DA9D}"/>
                </a:ext>
              </a:extLst>
            </p:cNvPr>
            <p:cNvSpPr/>
            <p:nvPr/>
          </p:nvSpPr>
          <p:spPr>
            <a:xfrm>
              <a:off x="5482967" y="586840"/>
              <a:ext cx="3929061" cy="720000"/>
            </a:xfrm>
            <a:prstGeom prst="roundRect">
              <a:avLst>
                <a:gd name="adj" fmla="val 50000"/>
              </a:avLst>
            </a:prstGeom>
            <a:solidFill>
              <a:srgbClr val="FF030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1D434C9-DD91-FBDA-E843-57358645FB1B}"/>
                </a:ext>
              </a:extLst>
            </p:cNvPr>
            <p:cNvSpPr txBox="1"/>
            <p:nvPr/>
          </p:nvSpPr>
          <p:spPr>
            <a:xfrm>
              <a:off x="6200775" y="623674"/>
              <a:ext cx="32112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masis MT Pro" panose="02040504050005020304" pitchFamily="18" charset="0"/>
                </a:rPr>
                <a:t>Target CA, MA, NY for maximum job opportunities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08A785E-B30C-6C00-EED8-B8714205A192}"/>
                </a:ext>
              </a:extLst>
            </p:cNvPr>
            <p:cNvSpPr/>
            <p:nvPr/>
          </p:nvSpPr>
          <p:spPr>
            <a:xfrm>
              <a:off x="5467196" y="553523"/>
              <a:ext cx="733579" cy="75331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1"/>
                  </a:solidFill>
                  <a:latin typeface="Elephant" panose="02020904090505020303" pitchFamily="18" charset="0"/>
                </a:rPr>
                <a:t>01</a:t>
              </a:r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5E097DF-3E4B-8484-D2B8-4B25291BEBB7}"/>
              </a:ext>
            </a:extLst>
          </p:cNvPr>
          <p:cNvCxnSpPr>
            <a:cxnSpLocks/>
            <a:stCxn id="27" idx="7"/>
          </p:cNvCxnSpPr>
          <p:nvPr/>
        </p:nvCxnSpPr>
        <p:spPr>
          <a:xfrm flipV="1">
            <a:off x="3255957" y="946840"/>
            <a:ext cx="388763" cy="467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BA96689-8B8C-59EC-6EA1-2B800CAA6E16}"/>
              </a:ext>
            </a:extLst>
          </p:cNvPr>
          <p:cNvCxnSpPr>
            <a:stCxn id="56" idx="2"/>
          </p:cNvCxnSpPr>
          <p:nvPr/>
        </p:nvCxnSpPr>
        <p:spPr>
          <a:xfrm flipH="1">
            <a:off x="3644720" y="930182"/>
            <a:ext cx="1822476" cy="16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14C5910-4095-2E18-9F47-4FA1C845C9C6}"/>
              </a:ext>
            </a:extLst>
          </p:cNvPr>
          <p:cNvCxnSpPr>
            <a:cxnSpLocks/>
            <a:stCxn id="60" idx="2"/>
          </p:cNvCxnSpPr>
          <p:nvPr/>
        </p:nvCxnSpPr>
        <p:spPr>
          <a:xfrm flipH="1">
            <a:off x="4705153" y="2583554"/>
            <a:ext cx="17036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198F262-15FA-FFB9-3B0B-49080887D2E3}"/>
              </a:ext>
            </a:extLst>
          </p:cNvPr>
          <p:cNvCxnSpPr>
            <a:stCxn id="58" idx="2"/>
          </p:cNvCxnSpPr>
          <p:nvPr/>
        </p:nvCxnSpPr>
        <p:spPr>
          <a:xfrm flipH="1" flipV="1">
            <a:off x="4717378" y="3965231"/>
            <a:ext cx="1779890" cy="16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8019467-96A9-9038-8BB8-835FF63EC5D0}"/>
              </a:ext>
            </a:extLst>
          </p:cNvPr>
          <p:cNvCxnSpPr/>
          <p:nvPr/>
        </p:nvCxnSpPr>
        <p:spPr>
          <a:xfrm flipH="1">
            <a:off x="4261126" y="3965231"/>
            <a:ext cx="456252" cy="249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3892AC28-06CD-6281-4FA9-93D5D873A226}"/>
              </a:ext>
            </a:extLst>
          </p:cNvPr>
          <p:cNvSpPr/>
          <p:nvPr/>
        </p:nvSpPr>
        <p:spPr>
          <a:xfrm>
            <a:off x="4191057" y="4133737"/>
            <a:ext cx="174517" cy="16008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5F0E3E5-BB0E-26FE-A8B7-A5F7560276D5}"/>
              </a:ext>
            </a:extLst>
          </p:cNvPr>
          <p:cNvCxnSpPr>
            <a:cxnSpLocks/>
            <a:stCxn id="62" idx="3"/>
          </p:cNvCxnSpPr>
          <p:nvPr/>
        </p:nvCxnSpPr>
        <p:spPr>
          <a:xfrm flipH="1">
            <a:off x="3644720" y="5916516"/>
            <a:ext cx="2120866" cy="113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BB830CE-E460-4CD6-28AA-D3EAC5CCFD9E}"/>
              </a:ext>
            </a:extLst>
          </p:cNvPr>
          <p:cNvCxnSpPr>
            <a:endCxn id="33" idx="5"/>
          </p:cNvCxnSpPr>
          <p:nvPr/>
        </p:nvCxnSpPr>
        <p:spPr>
          <a:xfrm flipH="1" flipV="1">
            <a:off x="3168698" y="5486688"/>
            <a:ext cx="476022" cy="429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9761049-4779-97A2-EA18-43B4D23A79A0}"/>
              </a:ext>
            </a:extLst>
          </p:cNvPr>
          <p:cNvCxnSpPr>
            <a:endCxn id="29" idx="6"/>
          </p:cNvCxnSpPr>
          <p:nvPr/>
        </p:nvCxnSpPr>
        <p:spPr>
          <a:xfrm flipH="1" flipV="1">
            <a:off x="4348385" y="2467760"/>
            <a:ext cx="356768" cy="115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3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2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750"/>
                            </p:stCondLst>
                            <p:childTnLst>
                              <p:par>
                                <p:cTn id="5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6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25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75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250"/>
                            </p:stCondLst>
                            <p:childTnLst>
                              <p:par>
                                <p:cTn id="9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9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20" grpId="0" animBg="1"/>
      <p:bldP spid="22" grpId="0" animBg="1"/>
      <p:bldP spid="24" grpId="0" animBg="1"/>
      <p:bldP spid="26" grpId="0" animBg="1"/>
      <p:bldP spid="27" grpId="0" animBg="1"/>
      <p:bldP spid="29" grpId="0" animBg="1"/>
      <p:bldP spid="33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8904CD-5949-6136-8D33-797C91AD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4E1550-AB1D-5881-EB38-056678674F20}"/>
              </a:ext>
            </a:extLst>
          </p:cNvPr>
          <p:cNvSpPr/>
          <p:nvPr/>
        </p:nvSpPr>
        <p:spPr>
          <a:xfrm>
            <a:off x="3879056" y="1257300"/>
            <a:ext cx="4433888" cy="4343401"/>
          </a:xfrm>
          <a:prstGeom prst="ellipse">
            <a:avLst/>
          </a:prstGeom>
          <a:solidFill>
            <a:schemeClr val="tx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Elephant" panose="02020904090505020303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</a:p>
          <a:p>
            <a:pPr algn="ctr"/>
            <a:endParaRPr lang="en-IN" sz="2000" dirty="0">
              <a:latin typeface="Elephant" panose="02020904090505020303" pitchFamily="18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en-IN" sz="2000" dirty="0">
                <a:latin typeface="Elephant" panose="02020904090505020303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- Yogesh M</a:t>
            </a:r>
          </a:p>
        </p:txBody>
      </p:sp>
    </p:spTree>
    <p:extLst>
      <p:ext uri="{BB962C8B-B14F-4D97-AF65-F5344CB8AC3E}">
        <p14:creationId xmlns:p14="http://schemas.microsoft.com/office/powerpoint/2010/main" val="4097277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457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Amasis MT Pro</vt:lpstr>
      <vt:lpstr>Aptos</vt:lpstr>
      <vt:lpstr>Aptos Display</vt:lpstr>
      <vt:lpstr>Arial</vt:lpstr>
      <vt:lpstr>Elephant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M</dc:creator>
  <cp:lastModifiedBy>Yogesh M</cp:lastModifiedBy>
  <cp:revision>24</cp:revision>
  <dcterms:created xsi:type="dcterms:W3CDTF">2026-07-15T14:21:26Z</dcterms:created>
  <dcterms:modified xsi:type="dcterms:W3CDTF">2026-07-16T14:39:24Z</dcterms:modified>
</cp:coreProperties>
</file>